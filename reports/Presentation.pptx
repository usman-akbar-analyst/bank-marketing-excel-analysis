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37"/>
  </p:normalViewPr>
  <p:slideViewPr>
    <p:cSldViewPr snapToGrid="0">
      <p:cViewPr varScale="1">
        <p:scale>
          <a:sx n="147" d="100"/>
          <a:sy n="147" d="100"/>
        </p:scale>
        <p:origin x="22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GB" sz="1725" b="1">
                <a:solidFill>
                  <a:srgbClr val="172C40"/>
                </a:solidFill>
                <a:latin typeface="Arial"/>
                <a:ea typeface="Arial"/>
                <a:cs typeface="Arial"/>
              </a:rPr>
              <a:t>Conversion by previous outcome</a:t>
            </a:r>
          </a:p>
        </c:rich>
      </c:tx>
      <c:overlay val="0"/>
    </c:title>
    <c:autoTitleDeleted val="0"/>
    <c:plotArea>
      <c:layout/>
      <c:barChart>
        <c:barDir val="col"/>
        <c:grouping val="clustered"/>
        <c:varyColors val="0"/>
        <c:ser>
          <c:idx val="0"/>
          <c:order val="0"/>
          <c:tx>
            <c:v>Conversion</c:v>
          </c:tx>
          <c:spPr>
            <a:solidFill>
              <a:srgbClr val="087F8C"/>
            </a:solidFill>
          </c:spPr>
          <c:invertIfNegative val="0"/>
          <c:dLbls>
            <c:numFmt formatCode="0.0%" sourceLinked="0"/>
            <c:spPr>
              <a:noFill/>
              <a:ln>
                <a:noFill/>
              </a:ln>
              <a:effectLst/>
            </c:spPr>
            <c:txPr>
              <a:bodyPr anchorCtr="1"/>
              <a:lstStyle/>
              <a:p>
                <a:pPr>
                  <a:defRPr sz="1275">
                    <a:solidFill>
                      <a:srgbClr val="172C40"/>
                    </a:solidFill>
                    <a:latin typeface="Arial"/>
                    <a:ea typeface="Arial"/>
                    <a:cs typeface="Arial"/>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success</c:v>
                </c:pt>
                <c:pt idx="1">
                  <c:v>other</c:v>
                </c:pt>
                <c:pt idx="2">
                  <c:v>failure</c:v>
                </c:pt>
                <c:pt idx="3">
                  <c:v>unknown</c:v>
                </c:pt>
              </c:strCache>
            </c:strRef>
          </c:cat>
          <c:val>
            <c:numRef>
              <c:f>'Chart Data'!$B$2:$B$5</c:f>
              <c:numCache>
                <c:formatCode>0.0%</c:formatCode>
                <c:ptCount val="4"/>
                <c:pt idx="0">
                  <c:v>0.64341085269999998</c:v>
                </c:pt>
                <c:pt idx="1">
                  <c:v>0.19289340099999999</c:v>
                </c:pt>
                <c:pt idx="2">
                  <c:v>0.12857142860000001</c:v>
                </c:pt>
                <c:pt idx="3">
                  <c:v>9.0958164600000002E-2</c:v>
                </c:pt>
              </c:numCache>
            </c:numRef>
          </c:val>
          <c:extLst>
            <c:ext xmlns:c16="http://schemas.microsoft.com/office/drawing/2014/chart" uri="{C3380CC4-5D6E-409C-BE32-E72D297353CC}">
              <c16:uniqueId val="{00000000-82F2-0946-A4C7-33402C25E4F2}"/>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172C40"/>
                </a:solidFill>
                <a:latin typeface="Arial"/>
                <a:ea typeface="Arial"/>
                <a:cs typeface="Arial"/>
              </a:defRPr>
            </a:pPr>
            <a:endParaRPr lang="en-PK"/>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DDE5EB"/>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200">
                <a:solidFill>
                  <a:srgbClr val="516474"/>
                </a:solidFill>
                <a:latin typeface="Arial"/>
                <a:ea typeface="Arial"/>
                <a:cs typeface="Arial"/>
              </a:defRPr>
            </a:pPr>
            <a:endParaRPr lang="en-PK"/>
          </a:p>
        </c:txPr>
        <c:crossAx val="48650112"/>
        <c:crosses val="autoZero"/>
        <c:crossBetween val="between"/>
        <c:majorUnit val="0.2"/>
      </c:valAx>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GB" sz="1725" b="1">
                <a:solidFill>
                  <a:srgbClr val="172C40"/>
                </a:solidFill>
                <a:latin typeface="Arial"/>
                <a:ea typeface="Arial"/>
                <a:cs typeface="Arial"/>
              </a:rPr>
              <a:t>Reported contacts by contact band</a:t>
            </a:r>
          </a:p>
        </c:rich>
      </c:tx>
      <c:overlay val="0"/>
    </c:title>
    <c:autoTitleDeleted val="0"/>
    <c:plotArea>
      <c:layout/>
      <c:barChart>
        <c:barDir val="col"/>
        <c:grouping val="clustered"/>
        <c:varyColors val="0"/>
        <c:ser>
          <c:idx val="0"/>
          <c:order val="0"/>
          <c:tx>
            <c:v>Reported contacts</c:v>
          </c:tx>
          <c:spPr>
            <a:solidFill>
              <a:srgbClr val="436786"/>
            </a:solidFill>
          </c:spPr>
          <c:invertIfNegative val="0"/>
          <c:dLbls>
            <c:numFmt formatCode="#,##0" sourceLinked="0"/>
            <c:spPr>
              <a:noFill/>
              <a:ln>
                <a:noFill/>
              </a:ln>
              <a:effectLst/>
            </c:spPr>
            <c:txPr>
              <a:bodyPr anchorCtr="1"/>
              <a:lstStyle/>
              <a:p>
                <a:pPr>
                  <a:defRPr sz="1275">
                    <a:solidFill>
                      <a:srgbClr val="172C40"/>
                    </a:solidFill>
                    <a:latin typeface="Arial"/>
                    <a:ea typeface="Arial"/>
                    <a:cs typeface="Arial"/>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c:v>
                </c:pt>
                <c:pt idx="1">
                  <c:v>2-3</c:v>
                </c:pt>
                <c:pt idx="2">
                  <c:v>4-5</c:v>
                </c:pt>
                <c:pt idx="3">
                  <c:v>6+</c:v>
                </c:pt>
              </c:strCache>
            </c:strRef>
          </c:cat>
          <c:val>
            <c:numRef>
              <c:f>'Chart Data'!$B$2:$B$5</c:f>
              <c:numCache>
                <c:formatCode>#,##0</c:formatCode>
                <c:ptCount val="4"/>
                <c:pt idx="0">
                  <c:v>1734</c:v>
                </c:pt>
                <c:pt idx="1">
                  <c:v>4202</c:v>
                </c:pt>
                <c:pt idx="2">
                  <c:v>2135</c:v>
                </c:pt>
                <c:pt idx="3">
                  <c:v>4559</c:v>
                </c:pt>
              </c:numCache>
            </c:numRef>
          </c:val>
          <c:extLst>
            <c:ext xmlns:c16="http://schemas.microsoft.com/office/drawing/2014/chart" uri="{C3380CC4-5D6E-409C-BE32-E72D297353CC}">
              <c16:uniqueId val="{00000000-7F96-E847-A46A-FBC61C21010C}"/>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172C40"/>
                </a:solidFill>
                <a:latin typeface="Arial"/>
                <a:ea typeface="Arial"/>
                <a:cs typeface="Arial"/>
              </a:defRPr>
            </a:pPr>
            <a:endParaRPr lang="en-PK"/>
          </a:p>
        </c:txPr>
        <c:crossAx val="48672768"/>
        <c:crosses val="autoZero"/>
        <c:auto val="1"/>
        <c:lblAlgn val="ctr"/>
        <c:lblOffset val="100"/>
        <c:noMultiLvlLbl val="1"/>
      </c:catAx>
      <c:valAx>
        <c:axId val="48672768"/>
        <c:scaling>
          <c:orientation val="minMax"/>
          <c:max val="5000"/>
          <c:min val="0"/>
        </c:scaling>
        <c:delete val="0"/>
        <c:axPos val="l"/>
        <c:majorGridlines>
          <c:spPr>
            <a:ln w="9525">
              <a:solidFill>
                <a:srgbClr val="DDE5EB"/>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200">
                <a:solidFill>
                  <a:srgbClr val="516474"/>
                </a:solidFill>
                <a:latin typeface="Arial"/>
                <a:ea typeface="Arial"/>
                <a:cs typeface="Arial"/>
              </a:defRPr>
            </a:pPr>
            <a:endParaRPr lang="en-PK"/>
          </a:p>
        </c:txPr>
        <c:crossAx val="48650112"/>
        <c:crosses val="autoZero"/>
        <c:crossBetween val="between"/>
        <c:majorUnit val="1000"/>
      </c:valAx>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supports a campaign manager deciding whom to prioritise and how to review contact practices. The analysis explores previous campaign outcomes, contact intensity and channel. It identifies associations that justify testing rather than claiming that a policy change will cause an improvement.</a:t>
            </a:r>
          </a:p>
          <a:p>
            <a:endParaRPr/>
          </a:p>
          <a:p>
            <a:r>
              <a:t>Source: UCI Bank Marketing, https://doi.org/10.24432/C5K306. Numerical results are the full-sample Excel analysis supplied in this project. Guided portfolio project. Charts contain editable data snapshots, not live workbook links.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sample includes 521 subscriptions out of 4,521 records, giving 11.52% conversion. The campaign column sums to 12,630 reported contacts. The audit preserved legitimate negative balances and the pdays = -1 code. Formula checks matched one housing and channel segment. The dashboard passed All, cellular, housing yes and cellular plus housing yes tests.</a:t>
            </a:r>
          </a:p>
          <a:p>
            <a:endParaRPr/>
          </a:p>
          <a:p>
            <a:r>
              <a:t>Source: UCI Bank Marketing, https://doi.org/10.24432/C5K306. Numerical results are the full-sample Excel analysis supplied in this project. Guided portfolio project. Charts contain editable data snapshots, not live workbook links.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Previous success converted at 64.34%, compared with 11.52% overall. The lift is 5.58, but the group has just 129 records and 83 subscriptions. The 6+ band includes 473 records, 4,559 contacts and 34 subscriptions. Its contact share is 36.10% and subscription share 6.53%. More follow-up may reflect harder-to-convert customers. The charts show associations and do not establish that repeated contact reduces conversion.</a:t>
            </a:r>
          </a:p>
          <a:p>
            <a:endParaRPr/>
          </a:p>
          <a:p>
            <a:r>
              <a:t>Source: UCI Bank Marketing, https://doi.org/10.24432/C5K306. Numerical results are the full-sample Excel analysis supplied in this project. Guided portfolio project. Charts contain editable data snapshots, not live workbook links.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proposed tests and owners. The prior-success group is promising but small. Review repeated contacts without assuming a cap will improve conversion or save money. Unknown is a data-quality category, not a channel. Among customers without housing loans, telephone converted at 20.81% versus 17.22% for cellular. Among those with housing loans, cellular converted at 11.56% versus 6.25% for telephone. Different customer composition and small telephone groups limit a general channel recommendation.</a:t>
            </a:r>
          </a:p>
          <a:p>
            <a:endParaRPr/>
          </a:p>
          <a:p>
            <a:r>
              <a:t>Source: UCI Bank Marketing, https://doi.org/10.24432/C5K306. Numerical results are the full-sample Excel analysis supplied in this project. Guided portfolio project. Charts contain editable data snapshots, not live workbook links.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Eligibility after three attempts and a 30-day window are proposed design choices for review, not proven optimal rules. Exclude customers who opted out or have unresolved complaints. Assign customers 1:1 and retain their assigned groups when calculating outcomes. One proposed revised approach allows at most one additional contact in 14 days, followed by a pause for the rest of the 30-day period. Keep offers consistent. Request a power calculation using this eligible audience’s baseline rate and an agreed acceptable conversion-loss margin. Evaluate contact reduction and complaints alongside conversion. No arbitrary uplift target or realised savings are claimed.</a:t>
            </a:r>
          </a:p>
          <a:p>
            <a:endParaRPr/>
          </a:p>
          <a:p>
            <a:r>
              <a:t>Source: UCI Bank Marketing, https://doi.org/10.24432/C5K306. Numerical results are the full-sample Excel analysis supplied in this project. Guided portfolio project. Charts contain editable data snapshots, not live workbook links.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0B5B46F-AE6B-45B6-9E48-3336503C789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20C9BC00-5BB0-4947-A948-DCECED605D4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0837227-0412-479C-AB7A-A2DA10B7D17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309528D-1B79-47A3-A9DA-22F2B93C84D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8C944377-AB42-49D2-BFF0-888AB627AFD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4EDAA5FD-8179-46AB-B867-E02BA708F2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90DDB22-16FC-4F06-A894-A4D80CF9886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87A77A7-7B06-4456-B3C6-E521377BC8A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3AA935-4C53-418C-8730-E61966D498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242A483-C8F7-44C1-9F47-FB6C117F366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C9DE919-B818-4C3E-8B50-F72E0E712712}"/>
              </a:ext>
            </a:extLst>
          </p:cNvPr>
          <p:cNvSpPr>
            <a:spLocks noGrp="1"/>
          </p:cNvSpPr>
          <p:nvPr/>
        </p:nvSpPr>
        <p:spPr>
          <a:xfrm>
            <a:off x="571500" y="400050"/>
            <a:ext cx="11049000" cy="762000"/>
          </a:xfrm>
          <a:prstGeom prst="rect">
            <a:avLst/>
          </a:prstGeom>
          <a:noFill/>
          <a:ln w="0">
            <a:noFill/>
          </a:ln>
        </p:spPr>
        <p:txBody>
          <a:bodyPr/>
          <a:lstStyle>
            <a:defPPr>
              <a:defRPr sz="3150" b="1">
                <a:solidFill>
                  <a:srgbClr val="172C40"/>
                </a:solidFill>
                <a:latin typeface="Arial"/>
                <a:ea typeface="Arial"/>
                <a:cs typeface="Arial"/>
              </a:defRPr>
            </a:defPPr>
          </a:lstStyle>
          <a:p>
            <a:pPr>
              <a:defRPr sz="3150" b="1">
                <a:solidFill>
                  <a:srgbClr val="172C40"/>
                </a:solidFill>
                <a:latin typeface="Arial"/>
                <a:ea typeface="Arial"/>
                <a:cs typeface="Arial"/>
              </a:defRPr>
            </a:pPr>
            <a:r>
              <a:rPr sz="3150" b="1" dirty="0">
                <a:solidFill>
                  <a:srgbClr val="172C40"/>
                </a:solidFill>
                <a:latin typeface="Arial"/>
                <a:ea typeface="Arial"/>
                <a:cs typeface="Arial"/>
              </a:rPr>
              <a:t>Bank Marketing Campaign Analysis</a:t>
            </a:r>
          </a:p>
        </p:txBody>
      </p:sp>
      <p:sp>
        <p:nvSpPr>
          <p:cNvPr id="2" name="Rectangle 1">
            <a:extLst>
              <a:ext uri="{FF2B5EF4-FFF2-40B4-BE49-F238E27FC236}">
                <a16:creationId xmlns:a16="http://schemas.microsoft.com/office/drawing/2014/main" id="{8B2A2EDD-FC35-4AEA-869B-6FB41EE26DE3}"/>
              </a:ext>
            </a:extLst>
          </p:cNvPr>
          <p:cNvSpPr>
            <a:spLocks noGrp="1"/>
          </p:cNvSpPr>
          <p:nvPr/>
        </p:nvSpPr>
        <p:spPr>
          <a:xfrm>
            <a:off x="571500" y="6496050"/>
            <a:ext cx="5715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sz="1125" b="0" dirty="0">
                <a:solidFill>
                  <a:srgbClr val="516474"/>
                </a:solidFill>
                <a:latin typeface="Arial"/>
                <a:ea typeface="Arial"/>
                <a:cs typeface="Arial"/>
              </a:rPr>
              <a:t>Bank marketing analysis</a:t>
            </a:r>
            <a:r>
              <a:rPr lang="en-GB" sz="1125" b="0" dirty="0">
                <a:solidFill>
                  <a:srgbClr val="516474"/>
                </a:solidFill>
                <a:latin typeface="Arial"/>
                <a:ea typeface="Arial"/>
                <a:cs typeface="Arial"/>
              </a:rPr>
              <a:t> _ Presented by: Usman Akbar</a:t>
            </a:r>
          </a:p>
          <a:p>
            <a:pPr>
              <a:defRPr sz="1125" b="0">
                <a:solidFill>
                  <a:srgbClr val="516474"/>
                </a:solidFill>
                <a:latin typeface="Arial"/>
                <a:ea typeface="Arial"/>
                <a:cs typeface="Arial"/>
              </a:defRPr>
            </a:pPr>
            <a:endParaRPr sz="1125" b="0" dirty="0">
              <a:solidFill>
                <a:srgbClr val="516474"/>
              </a:solidFill>
              <a:latin typeface="Arial"/>
              <a:ea typeface="Arial"/>
              <a:cs typeface="Arial"/>
            </a:endParaRPr>
          </a:p>
        </p:txBody>
      </p:sp>
      <p:sp>
        <p:nvSpPr>
          <p:cNvPr id="3" name="Rectangle 2">
            <a:extLst>
              <a:ext uri="{FF2B5EF4-FFF2-40B4-BE49-F238E27FC236}">
                <a16:creationId xmlns:a16="http://schemas.microsoft.com/office/drawing/2014/main" id="{711EDD83-9576-4F6F-A3DE-B3A5E659E879}"/>
              </a:ext>
            </a:extLst>
          </p:cNvPr>
          <p:cNvSpPr>
            <a:spLocks noGrp="1"/>
          </p:cNvSpPr>
          <p:nvPr/>
        </p:nvSpPr>
        <p:spPr>
          <a:xfrm>
            <a:off x="11287125" y="6496050"/>
            <a:ext cx="381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sz="1125" b="0">
                <a:solidFill>
                  <a:srgbClr val="516474"/>
                </a:solidFill>
                <a:latin typeface="Arial"/>
                <a:ea typeface="Arial"/>
                <a:cs typeface="Arial"/>
              </a:rPr>
              <a:t>1</a:t>
            </a:r>
          </a:p>
        </p:txBody>
      </p:sp>
      <p:sp>
        <p:nvSpPr>
          <p:cNvPr id="4" name="Rectangle 3">
            <a:extLst>
              <a:ext uri="{FF2B5EF4-FFF2-40B4-BE49-F238E27FC236}">
                <a16:creationId xmlns:a16="http://schemas.microsoft.com/office/drawing/2014/main" id="{A67185D4-AF15-4925-AB2E-9C120812FD45}"/>
              </a:ext>
            </a:extLst>
          </p:cNvPr>
          <p:cNvSpPr>
            <a:spLocks noGrp="1"/>
          </p:cNvSpPr>
          <p:nvPr/>
        </p:nvSpPr>
        <p:spPr>
          <a:xfrm>
            <a:off x="571500" y="1285875"/>
            <a:ext cx="10477500" cy="523875"/>
          </a:xfrm>
          <a:prstGeom prst="rect">
            <a:avLst/>
          </a:prstGeom>
          <a:noFill/>
          <a:ln w="0">
            <a:noFill/>
          </a:ln>
        </p:spPr>
        <p:txBody>
          <a:bodyPr/>
          <a:lstStyle>
            <a:defPPr>
              <a:defRPr sz="2250" b="0">
                <a:solidFill>
                  <a:srgbClr val="087F8C"/>
                </a:solidFill>
                <a:latin typeface="Arial"/>
                <a:ea typeface="Arial"/>
                <a:cs typeface="Arial"/>
              </a:defRPr>
            </a:defPPr>
          </a:lstStyle>
          <a:p>
            <a:pPr>
              <a:defRPr sz="2250" b="0">
                <a:solidFill>
                  <a:srgbClr val="087F8C"/>
                </a:solidFill>
                <a:latin typeface="Arial"/>
                <a:ea typeface="Arial"/>
                <a:cs typeface="Arial"/>
              </a:defRPr>
            </a:pPr>
            <a:r>
              <a:rPr sz="2250" b="0">
                <a:solidFill>
                  <a:srgbClr val="087F8C"/>
                </a:solidFill>
                <a:latin typeface="Arial"/>
                <a:ea typeface="Arial"/>
                <a:cs typeface="Arial"/>
              </a:rPr>
              <a:t>A decision brief for campaign follow-up</a:t>
            </a:r>
          </a:p>
        </p:txBody>
      </p:sp>
      <p:sp>
        <p:nvSpPr>
          <p:cNvPr id="5" name="Rectangle 4">
            <a:extLst>
              <a:ext uri="{FF2B5EF4-FFF2-40B4-BE49-F238E27FC236}">
                <a16:creationId xmlns:a16="http://schemas.microsoft.com/office/drawing/2014/main" id="{0ABC3C07-6BA6-493A-B24B-5B58020A77B9}"/>
              </a:ext>
            </a:extLst>
          </p:cNvPr>
          <p:cNvSpPr>
            <a:spLocks noGrp="1"/>
          </p:cNvSpPr>
          <p:nvPr/>
        </p:nvSpPr>
        <p:spPr>
          <a:xfrm>
            <a:off x="571500" y="2381250"/>
            <a:ext cx="10572750" cy="1190625"/>
          </a:xfrm>
          <a:prstGeom prst="rect">
            <a:avLst/>
          </a:prstGeom>
          <a:noFill/>
          <a:ln w="0">
            <a:noFill/>
          </a:ln>
        </p:spPr>
        <p:txBody>
          <a:bodyPr/>
          <a:lstStyle>
            <a:defPPr>
              <a:defRPr sz="2700" b="1">
                <a:solidFill>
                  <a:srgbClr val="172C40"/>
                </a:solidFill>
                <a:latin typeface="Arial"/>
                <a:ea typeface="Arial"/>
                <a:cs typeface="Arial"/>
              </a:defRPr>
            </a:defPPr>
          </a:lstStyle>
          <a:p>
            <a:pPr>
              <a:defRPr sz="2700" b="1">
                <a:solidFill>
                  <a:srgbClr val="172C40"/>
                </a:solidFill>
                <a:latin typeface="Arial"/>
                <a:ea typeface="Arial"/>
                <a:cs typeface="Arial"/>
              </a:defRPr>
            </a:pPr>
            <a:r>
              <a:rPr sz="2700" b="1">
                <a:solidFill>
                  <a:srgbClr val="172C40"/>
                </a:solidFill>
                <a:latin typeface="Arial"/>
                <a:ea typeface="Arial"/>
                <a:cs typeface="Arial"/>
              </a:rPr>
              <a:t>Which customers should receive priority contact,</a:t>
            </a:r>
          </a:p>
          <a:p>
            <a:pPr>
              <a:defRPr sz="2700" b="1">
                <a:solidFill>
                  <a:srgbClr val="172C40"/>
                </a:solidFill>
                <a:latin typeface="Arial"/>
                <a:ea typeface="Arial"/>
                <a:cs typeface="Arial"/>
              </a:defRPr>
            </a:pPr>
            <a:r>
              <a:rPr sz="2700" b="1">
                <a:solidFill>
                  <a:srgbClr val="172C40"/>
                </a:solidFill>
                <a:latin typeface="Arial"/>
                <a:ea typeface="Arial"/>
                <a:cs typeface="Arial"/>
              </a:rPr>
              <a:t>and how should the bank review repeated follow-up?</a:t>
            </a:r>
          </a:p>
        </p:txBody>
      </p:sp>
      <p:sp>
        <p:nvSpPr>
          <p:cNvPr id="6" name="Rectangle 5">
            <a:extLst>
              <a:ext uri="{FF2B5EF4-FFF2-40B4-BE49-F238E27FC236}">
                <a16:creationId xmlns:a16="http://schemas.microsoft.com/office/drawing/2014/main" id="{905A2E8C-E0C1-4EA0-84CD-FFF8BB6CD8F1}"/>
              </a:ext>
            </a:extLst>
          </p:cNvPr>
          <p:cNvSpPr>
            <a:spLocks noGrp="1"/>
          </p:cNvSpPr>
          <p:nvPr/>
        </p:nvSpPr>
        <p:spPr>
          <a:xfrm>
            <a:off x="571500" y="4381500"/>
            <a:ext cx="10287000" cy="476250"/>
          </a:xfrm>
          <a:prstGeom prst="rect">
            <a:avLst/>
          </a:prstGeom>
          <a:noFill/>
          <a:ln w="0">
            <a:noFill/>
          </a:ln>
        </p:spPr>
        <p:txBody>
          <a:bodyPr/>
          <a:lstStyle>
            <a:defPPr>
              <a:defRPr sz="2100" b="0">
                <a:solidFill>
                  <a:srgbClr val="172C40"/>
                </a:solidFill>
                <a:latin typeface="Arial"/>
                <a:ea typeface="Arial"/>
                <a:cs typeface="Arial"/>
              </a:defRPr>
            </a:defPPr>
          </a:lstStyle>
          <a:p>
            <a:pPr>
              <a:defRPr sz="2100" b="0">
                <a:solidFill>
                  <a:srgbClr val="172C40"/>
                </a:solidFill>
                <a:latin typeface="Arial"/>
                <a:ea typeface="Arial"/>
                <a:cs typeface="Arial"/>
              </a:defRPr>
            </a:pPr>
            <a:r>
              <a:rPr sz="2100" b="0">
                <a:solidFill>
                  <a:srgbClr val="172C40"/>
                </a:solidFill>
                <a:latin typeface="Arial"/>
                <a:ea typeface="Arial"/>
                <a:cs typeface="Arial"/>
              </a:rPr>
              <a:t>Evidence from 4,521 customer records</a:t>
            </a:r>
          </a:p>
        </p:txBody>
      </p:sp>
      <p:sp>
        <p:nvSpPr>
          <p:cNvPr id="7" name="Rectangle 6">
            <a:extLst>
              <a:ext uri="{FF2B5EF4-FFF2-40B4-BE49-F238E27FC236}">
                <a16:creationId xmlns:a16="http://schemas.microsoft.com/office/drawing/2014/main" id="{E718FF90-45BA-4E4D-B401-663023FD5BD5}"/>
              </a:ext>
            </a:extLst>
          </p:cNvPr>
          <p:cNvSpPr>
            <a:spLocks noGrp="1"/>
          </p:cNvSpPr>
          <p:nvPr/>
        </p:nvSpPr>
        <p:spPr>
          <a:xfrm>
            <a:off x="571500" y="5029200"/>
            <a:ext cx="10287000" cy="333375"/>
          </a:xfrm>
          <a:prstGeom prst="rect">
            <a:avLst/>
          </a:prstGeom>
          <a:noFill/>
          <a:ln w="0">
            <a:noFill/>
          </a:ln>
        </p:spPr>
        <p:txBody>
          <a:bodyPr/>
          <a:lstStyle>
            <a:defPPr>
              <a:defRPr sz="1650" b="0">
                <a:solidFill>
                  <a:srgbClr val="516474"/>
                </a:solidFill>
                <a:latin typeface="Arial"/>
                <a:ea typeface="Arial"/>
                <a:cs typeface="Arial"/>
              </a:defRPr>
            </a:defPPr>
          </a:lstStyle>
          <a:p>
            <a:pPr>
              <a:defRPr sz="1650" b="0">
                <a:solidFill>
                  <a:srgbClr val="516474"/>
                </a:solidFill>
                <a:latin typeface="Arial"/>
                <a:ea typeface="Arial"/>
                <a:cs typeface="Arial"/>
              </a:defRPr>
            </a:pPr>
            <a:r>
              <a:rPr sz="1650" b="0">
                <a:solidFill>
                  <a:srgbClr val="516474"/>
                </a:solidFill>
                <a:latin typeface="Arial"/>
                <a:ea typeface="Arial"/>
                <a:cs typeface="Arial"/>
              </a:rPr>
              <a:t>Guided Excel portfolio project</a:t>
            </a:r>
          </a:p>
        </p:txBody>
      </p:sp>
    </p:spTree>
    <p:extLst>
      <p:ext uri="{BB962C8B-B14F-4D97-AF65-F5344CB8AC3E}">
        <p14:creationId xmlns:p14="http://schemas.microsoft.com/office/powerpoint/2010/main" val="710956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9148680-81DE-4A07-B10D-B0322A290976}"/>
              </a:ext>
            </a:extLst>
          </p:cNvPr>
          <p:cNvSpPr>
            <a:spLocks noGrp="1"/>
          </p:cNvSpPr>
          <p:nvPr/>
        </p:nvSpPr>
        <p:spPr>
          <a:xfrm>
            <a:off x="571500" y="400050"/>
            <a:ext cx="11049000" cy="762000"/>
          </a:xfrm>
          <a:prstGeom prst="rect">
            <a:avLst/>
          </a:prstGeom>
          <a:noFill/>
          <a:ln w="0">
            <a:noFill/>
          </a:ln>
        </p:spPr>
        <p:txBody>
          <a:bodyPr/>
          <a:lstStyle>
            <a:defPPr>
              <a:defRPr sz="3150" b="1">
                <a:solidFill>
                  <a:srgbClr val="172C40"/>
                </a:solidFill>
                <a:latin typeface="Arial"/>
                <a:ea typeface="Arial"/>
                <a:cs typeface="Arial"/>
              </a:defRPr>
            </a:defPPr>
          </a:lstStyle>
          <a:p>
            <a:pPr>
              <a:defRPr sz="3150" b="1">
                <a:solidFill>
                  <a:srgbClr val="172C40"/>
                </a:solidFill>
                <a:latin typeface="Arial"/>
                <a:ea typeface="Arial"/>
                <a:cs typeface="Arial"/>
              </a:defRPr>
            </a:pPr>
            <a:r>
              <a:rPr sz="3150" b="1">
                <a:solidFill>
                  <a:srgbClr val="172C40"/>
                </a:solidFill>
                <a:latin typeface="Arial"/>
                <a:ea typeface="Arial"/>
                <a:cs typeface="Arial"/>
              </a:rPr>
              <a:t>Data and validation</a:t>
            </a:r>
          </a:p>
        </p:txBody>
      </p:sp>
      <p:sp>
        <p:nvSpPr>
          <p:cNvPr id="2" name="Rectangle 1">
            <a:extLst>
              <a:ext uri="{FF2B5EF4-FFF2-40B4-BE49-F238E27FC236}">
                <a16:creationId xmlns:a16="http://schemas.microsoft.com/office/drawing/2014/main" id="{95E290BB-FE99-4E02-9FBA-208C25E45ED9}"/>
              </a:ext>
            </a:extLst>
          </p:cNvPr>
          <p:cNvSpPr>
            <a:spLocks noGrp="1"/>
          </p:cNvSpPr>
          <p:nvPr/>
        </p:nvSpPr>
        <p:spPr>
          <a:xfrm>
            <a:off x="571500" y="6496050"/>
            <a:ext cx="5715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lang="en-GB" sz="1125" dirty="0">
                <a:solidFill>
                  <a:srgbClr val="516474"/>
                </a:solidFill>
                <a:latin typeface="Arial"/>
                <a:ea typeface="Arial"/>
                <a:cs typeface="Arial"/>
              </a:rPr>
              <a:t>Bank marketing analysis _ Presented by: Usman Akbar</a:t>
            </a:r>
          </a:p>
        </p:txBody>
      </p:sp>
      <p:sp>
        <p:nvSpPr>
          <p:cNvPr id="3" name="Rectangle 2">
            <a:extLst>
              <a:ext uri="{FF2B5EF4-FFF2-40B4-BE49-F238E27FC236}">
                <a16:creationId xmlns:a16="http://schemas.microsoft.com/office/drawing/2014/main" id="{F4B783A6-8463-4B62-A8F0-C7CD82108F9D}"/>
              </a:ext>
            </a:extLst>
          </p:cNvPr>
          <p:cNvSpPr>
            <a:spLocks noGrp="1"/>
          </p:cNvSpPr>
          <p:nvPr/>
        </p:nvSpPr>
        <p:spPr>
          <a:xfrm>
            <a:off x="11287125" y="6496050"/>
            <a:ext cx="381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sz="1125" b="0">
                <a:solidFill>
                  <a:srgbClr val="516474"/>
                </a:solidFill>
                <a:latin typeface="Arial"/>
                <a:ea typeface="Arial"/>
                <a:cs typeface="Arial"/>
              </a:rPr>
              <a:t>2</a:t>
            </a:r>
          </a:p>
        </p:txBody>
      </p:sp>
      <p:graphicFrame>
        <p:nvGraphicFramePr>
          <p:cNvPr id="4" name="Table 3">
            <a:extLst>
              <a:ext uri="{FF2B5EF4-FFF2-40B4-BE49-F238E27FC236}">
                <a16:creationId xmlns:a16="http://schemas.microsoft.com/office/drawing/2014/main" id="{05CE5551-02C6-4912-A8E3-9B3322DBD15C}"/>
              </a:ext>
            </a:extLst>
          </p:cNvPr>
          <p:cNvGraphicFramePr/>
          <p:nvPr/>
        </p:nvGraphicFramePr>
        <p:xfrm>
          <a:off x="571500" y="1466850"/>
          <a:ext cx="11049000" cy="114300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571500">
                <a:tc>
                  <a:txBody>
                    <a:bodyPr/>
                    <a:lstStyle/>
                    <a:p>
                      <a:r>
                        <a:rPr sz="2025" b="1">
                          <a:solidFill>
                            <a:srgbClr val="172C40"/>
                          </a:solidFill>
                          <a:latin typeface="Arial"/>
                          <a:ea typeface="Arial"/>
                          <a:cs typeface="Arial"/>
                        </a:rPr>
                        <a:t>Records</a:t>
                      </a:r>
                    </a:p>
                  </a:txBody>
                  <a:tcPr>
                    <a:solidFill>
                      <a:srgbClr val="E6EEF2"/>
                    </a:solidFill>
                  </a:tcPr>
                </a:tc>
                <a:tc>
                  <a:txBody>
                    <a:bodyPr/>
                    <a:lstStyle/>
                    <a:p>
                      <a:r>
                        <a:rPr sz="2025" b="1">
                          <a:solidFill>
                            <a:srgbClr val="172C40"/>
                          </a:solidFill>
                          <a:latin typeface="Arial"/>
                          <a:ea typeface="Arial"/>
                          <a:cs typeface="Arial"/>
                        </a:rPr>
                        <a:t>Subscriptions</a:t>
                      </a:r>
                    </a:p>
                  </a:txBody>
                  <a:tcPr>
                    <a:solidFill>
                      <a:srgbClr val="E6EEF2"/>
                    </a:solidFill>
                  </a:tcPr>
                </a:tc>
                <a:tc>
                  <a:txBody>
                    <a:bodyPr/>
                    <a:lstStyle/>
                    <a:p>
                      <a:r>
                        <a:rPr sz="2025" b="1">
                          <a:solidFill>
                            <a:srgbClr val="172C40"/>
                          </a:solidFill>
                          <a:latin typeface="Arial"/>
                          <a:ea typeface="Arial"/>
                          <a:cs typeface="Arial"/>
                        </a:rPr>
                        <a:t>Conversion</a:t>
                      </a:r>
                    </a:p>
                  </a:txBody>
                  <a:tcPr>
                    <a:solidFill>
                      <a:srgbClr val="E6EEF2"/>
                    </a:solidFill>
                  </a:tcPr>
                </a:tc>
                <a:tc>
                  <a:txBody>
                    <a:bodyPr/>
                    <a:lstStyle/>
                    <a:p>
                      <a:r>
                        <a:rPr sz="2025" b="1">
                          <a:solidFill>
                            <a:srgbClr val="172C40"/>
                          </a:solidFill>
                          <a:latin typeface="Arial"/>
                          <a:ea typeface="Arial"/>
                          <a:cs typeface="Arial"/>
                        </a:rPr>
                        <a:t>Reported contacts</a:t>
                      </a:r>
                    </a:p>
                  </a:txBody>
                  <a:tcPr>
                    <a:solidFill>
                      <a:srgbClr val="E6EEF2"/>
                    </a:solidFill>
                  </a:tcPr>
                </a:tc>
                <a:extLst>
                  <a:ext uri="{0D108BD9-81ED-4DB2-BD59-A6C34878D82A}">
                    <a16:rowId xmlns:a16="http://schemas.microsoft.com/office/drawing/2014/main" val="10000"/>
                  </a:ext>
                </a:extLst>
              </a:tr>
              <a:tr h="571500">
                <a:tc>
                  <a:txBody>
                    <a:bodyPr/>
                    <a:lstStyle/>
                    <a:p>
                      <a:r>
                        <a:rPr sz="2025" b="0">
                          <a:solidFill>
                            <a:srgbClr val="172C40"/>
                          </a:solidFill>
                          <a:latin typeface="Arial"/>
                          <a:ea typeface="Arial"/>
                          <a:cs typeface="Arial"/>
                        </a:rPr>
                        <a:t>4,521</a:t>
                      </a:r>
                    </a:p>
                  </a:txBody>
                  <a:tcPr>
                    <a:solidFill>
                      <a:srgbClr val="FFFFFF"/>
                    </a:solidFill>
                  </a:tcPr>
                </a:tc>
                <a:tc>
                  <a:txBody>
                    <a:bodyPr/>
                    <a:lstStyle/>
                    <a:p>
                      <a:r>
                        <a:rPr sz="2025" b="0">
                          <a:solidFill>
                            <a:srgbClr val="172C40"/>
                          </a:solidFill>
                          <a:latin typeface="Arial"/>
                          <a:ea typeface="Arial"/>
                          <a:cs typeface="Arial"/>
                        </a:rPr>
                        <a:t>521</a:t>
                      </a:r>
                    </a:p>
                  </a:txBody>
                  <a:tcPr>
                    <a:solidFill>
                      <a:srgbClr val="FFFFFF"/>
                    </a:solidFill>
                  </a:tcPr>
                </a:tc>
                <a:tc>
                  <a:txBody>
                    <a:bodyPr/>
                    <a:lstStyle/>
                    <a:p>
                      <a:r>
                        <a:rPr sz="2025" b="0">
                          <a:solidFill>
                            <a:srgbClr val="172C40"/>
                          </a:solidFill>
                          <a:latin typeface="Arial"/>
                          <a:ea typeface="Arial"/>
                          <a:cs typeface="Arial"/>
                        </a:rPr>
                        <a:t>11.52%</a:t>
                      </a:r>
                    </a:p>
                  </a:txBody>
                  <a:tcPr>
                    <a:solidFill>
                      <a:srgbClr val="FFFFFF"/>
                    </a:solidFill>
                  </a:tcPr>
                </a:tc>
                <a:tc>
                  <a:txBody>
                    <a:bodyPr/>
                    <a:lstStyle/>
                    <a:p>
                      <a:r>
                        <a:rPr sz="2025" b="0">
                          <a:solidFill>
                            <a:srgbClr val="172C40"/>
                          </a:solidFill>
                          <a:latin typeface="Arial"/>
                          <a:ea typeface="Arial"/>
                          <a:cs typeface="Arial"/>
                        </a:rPr>
                        <a:t>12,630</a:t>
                      </a:r>
                    </a:p>
                  </a:txBody>
                  <a:tcPr>
                    <a:solidFill>
                      <a:srgbClr val="FFFFFF"/>
                    </a:solidFill>
                  </a:tcPr>
                </a:tc>
                <a:extLst>
                  <a:ext uri="{0D108BD9-81ED-4DB2-BD59-A6C34878D82A}">
                    <a16:rowId xmlns:a16="http://schemas.microsoft.com/office/drawing/2014/main" val="10001"/>
                  </a:ext>
                </a:extLst>
              </a:tr>
            </a:tbl>
          </a:graphicData>
        </a:graphic>
      </p:graphicFrame>
      <p:sp>
        <p:nvSpPr>
          <p:cNvPr id="5" name="Rectangle 4">
            <a:extLst>
              <a:ext uri="{FF2B5EF4-FFF2-40B4-BE49-F238E27FC236}">
                <a16:creationId xmlns:a16="http://schemas.microsoft.com/office/drawing/2014/main" id="{3030449C-8D8C-41AA-8E93-C24E8E8B3625}"/>
              </a:ext>
            </a:extLst>
          </p:cNvPr>
          <p:cNvSpPr>
            <a:spLocks noGrp="1"/>
          </p:cNvSpPr>
          <p:nvPr/>
        </p:nvSpPr>
        <p:spPr>
          <a:xfrm>
            <a:off x="571500" y="3095625"/>
            <a:ext cx="4953000" cy="400050"/>
          </a:xfrm>
          <a:prstGeom prst="rect">
            <a:avLst/>
          </a:prstGeom>
          <a:noFill/>
          <a:ln w="0">
            <a:noFill/>
          </a:ln>
        </p:spPr>
        <p:txBody>
          <a:bodyPr/>
          <a:lstStyle>
            <a:defPPr>
              <a:defRPr sz="2175" b="1">
                <a:solidFill>
                  <a:srgbClr val="087F8C"/>
                </a:solidFill>
                <a:latin typeface="Arial"/>
                <a:ea typeface="Arial"/>
                <a:cs typeface="Arial"/>
              </a:defRPr>
            </a:defPPr>
          </a:lstStyle>
          <a:p>
            <a:pPr>
              <a:defRPr sz="2175" b="1">
                <a:solidFill>
                  <a:srgbClr val="087F8C"/>
                </a:solidFill>
                <a:latin typeface="Arial"/>
                <a:ea typeface="Arial"/>
                <a:cs typeface="Arial"/>
              </a:defRPr>
            </a:pPr>
            <a:r>
              <a:rPr sz="2175" b="1">
                <a:solidFill>
                  <a:srgbClr val="087F8C"/>
                </a:solidFill>
                <a:latin typeface="Arial"/>
                <a:ea typeface="Arial"/>
                <a:cs typeface="Arial"/>
              </a:rPr>
              <a:t>Excel analysis</a:t>
            </a:r>
          </a:p>
        </p:txBody>
      </p:sp>
      <p:sp>
        <p:nvSpPr>
          <p:cNvPr id="6" name="Rectangle 5">
            <a:extLst>
              <a:ext uri="{FF2B5EF4-FFF2-40B4-BE49-F238E27FC236}">
                <a16:creationId xmlns:a16="http://schemas.microsoft.com/office/drawing/2014/main" id="{69E6D05C-C1FD-40D1-BF95-6F8816AF7B43}"/>
              </a:ext>
            </a:extLst>
          </p:cNvPr>
          <p:cNvSpPr>
            <a:spLocks noGrp="1"/>
          </p:cNvSpPr>
          <p:nvPr/>
        </p:nvSpPr>
        <p:spPr>
          <a:xfrm>
            <a:off x="571500" y="3705225"/>
            <a:ext cx="5429250" cy="1619250"/>
          </a:xfrm>
          <a:prstGeom prst="rect">
            <a:avLst/>
          </a:prstGeom>
          <a:noFill/>
          <a:ln w="0">
            <a:noFill/>
          </a:ln>
        </p:spPr>
        <p:txBody>
          <a:bodyPr/>
          <a:lstStyle>
            <a:defPPr>
              <a:defRPr sz="1875" b="0">
                <a:solidFill>
                  <a:srgbClr val="172C40"/>
                </a:solidFill>
                <a:latin typeface="Arial"/>
                <a:ea typeface="Arial"/>
                <a:cs typeface="Arial"/>
              </a:defRPr>
            </a:defPPr>
          </a:lstStyle>
          <a:p>
            <a:pPr>
              <a:defRPr sz="1875" b="0">
                <a:solidFill>
                  <a:srgbClr val="172C40"/>
                </a:solidFill>
                <a:latin typeface="Arial"/>
                <a:ea typeface="Arial"/>
                <a:cs typeface="Arial"/>
              </a:defRPr>
            </a:pPr>
            <a:r>
              <a:rPr sz="1875" b="0">
                <a:solidFill>
                  <a:srgbClr val="172C40"/>
                </a:solidFill>
                <a:latin typeface="Arial"/>
                <a:ea typeface="Arial"/>
                <a:cs typeface="Arial"/>
              </a:rPr>
              <a:t>Data audit and documented special values</a:t>
            </a:r>
          </a:p>
          <a:p>
            <a:pPr>
              <a:defRPr sz="1875" b="0">
                <a:solidFill>
                  <a:srgbClr val="172C40"/>
                </a:solidFill>
                <a:latin typeface="Arial"/>
                <a:ea typeface="Arial"/>
                <a:cs typeface="Arial"/>
              </a:defRPr>
            </a:pPr>
            <a:r>
              <a:rPr sz="1875" b="0">
                <a:solidFill>
                  <a:srgbClr val="172C40"/>
                </a:solidFill>
                <a:latin typeface="Arial"/>
                <a:ea typeface="Arial"/>
                <a:cs typeface="Arial"/>
              </a:rPr>
              <a:t>Helper columns and seven PivotTables</a:t>
            </a:r>
          </a:p>
          <a:p>
            <a:pPr>
              <a:defRPr sz="1875" b="0">
                <a:solidFill>
                  <a:srgbClr val="172C40"/>
                </a:solidFill>
                <a:latin typeface="Arial"/>
                <a:ea typeface="Arial"/>
                <a:cs typeface="Arial"/>
              </a:defRPr>
            </a:pPr>
            <a:r>
              <a:rPr sz="1875" b="0">
                <a:solidFill>
                  <a:srgbClr val="172C40"/>
                </a:solidFill>
                <a:latin typeface="Arial"/>
                <a:ea typeface="Arial"/>
                <a:cs typeface="Arial"/>
              </a:rPr>
              <a:t>Dashboard with contact and housing slicers</a:t>
            </a:r>
          </a:p>
        </p:txBody>
      </p:sp>
      <p:sp>
        <p:nvSpPr>
          <p:cNvPr id="7" name="Rectangle 6">
            <a:extLst>
              <a:ext uri="{FF2B5EF4-FFF2-40B4-BE49-F238E27FC236}">
                <a16:creationId xmlns:a16="http://schemas.microsoft.com/office/drawing/2014/main" id="{5FE10378-D279-4829-AB8B-9946FDECCD7C}"/>
              </a:ext>
            </a:extLst>
          </p:cNvPr>
          <p:cNvSpPr>
            <a:spLocks noGrp="1"/>
          </p:cNvSpPr>
          <p:nvPr/>
        </p:nvSpPr>
        <p:spPr>
          <a:xfrm>
            <a:off x="6572250" y="3095625"/>
            <a:ext cx="4953000" cy="400050"/>
          </a:xfrm>
          <a:prstGeom prst="rect">
            <a:avLst/>
          </a:prstGeom>
          <a:noFill/>
          <a:ln w="0">
            <a:noFill/>
          </a:ln>
        </p:spPr>
        <p:txBody>
          <a:bodyPr/>
          <a:lstStyle>
            <a:defPPr>
              <a:defRPr sz="2175" b="1">
                <a:solidFill>
                  <a:srgbClr val="087F8C"/>
                </a:solidFill>
                <a:latin typeface="Arial"/>
                <a:ea typeface="Arial"/>
                <a:cs typeface="Arial"/>
              </a:defRPr>
            </a:defPPr>
          </a:lstStyle>
          <a:p>
            <a:pPr>
              <a:defRPr sz="2175" b="1">
                <a:solidFill>
                  <a:srgbClr val="087F8C"/>
                </a:solidFill>
                <a:latin typeface="Arial"/>
                <a:ea typeface="Arial"/>
                <a:cs typeface="Arial"/>
              </a:defRPr>
            </a:pPr>
            <a:r>
              <a:rPr sz="2175" b="1">
                <a:solidFill>
                  <a:srgbClr val="087F8C"/>
                </a:solidFill>
                <a:latin typeface="Arial"/>
                <a:ea typeface="Arial"/>
                <a:cs typeface="Arial"/>
              </a:rPr>
              <a:t>Accuracy checks</a:t>
            </a:r>
          </a:p>
        </p:txBody>
      </p:sp>
      <p:sp>
        <p:nvSpPr>
          <p:cNvPr id="8" name="Rectangle 7">
            <a:extLst>
              <a:ext uri="{FF2B5EF4-FFF2-40B4-BE49-F238E27FC236}">
                <a16:creationId xmlns:a16="http://schemas.microsoft.com/office/drawing/2014/main" id="{1FF57765-6D6D-4929-87C6-1AD734FBF374}"/>
              </a:ext>
            </a:extLst>
          </p:cNvPr>
          <p:cNvSpPr>
            <a:spLocks noGrp="1"/>
          </p:cNvSpPr>
          <p:nvPr/>
        </p:nvSpPr>
        <p:spPr>
          <a:xfrm>
            <a:off x="6572250" y="3705225"/>
            <a:ext cx="4953000" cy="1619250"/>
          </a:xfrm>
          <a:prstGeom prst="rect">
            <a:avLst/>
          </a:prstGeom>
          <a:noFill/>
          <a:ln w="0">
            <a:noFill/>
          </a:ln>
        </p:spPr>
        <p:txBody>
          <a:bodyPr/>
          <a:lstStyle>
            <a:defPPr>
              <a:defRPr sz="1875" b="0">
                <a:solidFill>
                  <a:srgbClr val="172C40"/>
                </a:solidFill>
                <a:latin typeface="Arial"/>
                <a:ea typeface="Arial"/>
                <a:cs typeface="Arial"/>
              </a:defRPr>
            </a:defPPr>
          </a:lstStyle>
          <a:p>
            <a:pPr>
              <a:defRPr sz="1875" b="0">
                <a:solidFill>
                  <a:srgbClr val="172C40"/>
                </a:solidFill>
                <a:latin typeface="Arial"/>
                <a:ea typeface="Arial"/>
                <a:cs typeface="Arial"/>
              </a:defRPr>
            </a:pPr>
            <a:r>
              <a:rPr sz="1875" b="0">
                <a:solidFill>
                  <a:srgbClr val="172C40"/>
                </a:solidFill>
                <a:latin typeface="Arial"/>
                <a:ea typeface="Arial"/>
                <a:cs typeface="Arial"/>
              </a:rPr>
              <a:t>Source totals reconcile with pivot totals</a:t>
            </a:r>
          </a:p>
          <a:p>
            <a:pPr>
              <a:defRPr sz="1875" b="0">
                <a:solidFill>
                  <a:srgbClr val="172C40"/>
                </a:solidFill>
                <a:latin typeface="Arial"/>
                <a:ea typeface="Arial"/>
                <a:cs typeface="Arial"/>
              </a:defRPr>
            </a:pPr>
            <a:r>
              <a:rPr sz="1875" b="0">
                <a:solidFill>
                  <a:srgbClr val="172C40"/>
                </a:solidFill>
                <a:latin typeface="Arial"/>
                <a:ea typeface="Arial"/>
                <a:cs typeface="Arial"/>
              </a:rPr>
              <a:t>Independent COUNTIFS and SUMIFS check</a:t>
            </a:r>
          </a:p>
          <a:p>
            <a:pPr>
              <a:defRPr sz="1875" b="0">
                <a:solidFill>
                  <a:srgbClr val="172C40"/>
                </a:solidFill>
                <a:latin typeface="Arial"/>
                <a:ea typeface="Arial"/>
                <a:cs typeface="Arial"/>
              </a:defRPr>
            </a:pPr>
            <a:r>
              <a:rPr sz="1875" b="0">
                <a:solidFill>
                  <a:srgbClr val="172C40"/>
                </a:solidFill>
                <a:latin typeface="Arial"/>
                <a:ea typeface="Arial"/>
                <a:cs typeface="Arial"/>
              </a:rPr>
              <a:t>Four dashboard filter tests passed</a:t>
            </a:r>
          </a:p>
        </p:txBody>
      </p:sp>
      <p:sp>
        <p:nvSpPr>
          <p:cNvPr id="9" name="Rectangle 8">
            <a:extLst>
              <a:ext uri="{FF2B5EF4-FFF2-40B4-BE49-F238E27FC236}">
                <a16:creationId xmlns:a16="http://schemas.microsoft.com/office/drawing/2014/main" id="{12ACD026-B5E2-4970-A758-E26764FE2104}"/>
              </a:ext>
            </a:extLst>
          </p:cNvPr>
          <p:cNvSpPr>
            <a:spLocks noGrp="1"/>
          </p:cNvSpPr>
          <p:nvPr/>
        </p:nvSpPr>
        <p:spPr>
          <a:xfrm>
            <a:off x="571500" y="5686425"/>
            <a:ext cx="10953750" cy="438150"/>
          </a:xfrm>
          <a:prstGeom prst="rect">
            <a:avLst/>
          </a:prstGeom>
          <a:noFill/>
          <a:ln w="0">
            <a:noFill/>
          </a:ln>
        </p:spPr>
        <p:txBody>
          <a:bodyPr/>
          <a:lstStyle>
            <a:defPPr>
              <a:defRPr sz="1725" b="0">
                <a:solidFill>
                  <a:srgbClr val="516474"/>
                </a:solidFill>
                <a:latin typeface="Arial"/>
                <a:ea typeface="Arial"/>
                <a:cs typeface="Arial"/>
              </a:defRPr>
            </a:defPPr>
          </a:lstStyle>
          <a:p>
            <a:pPr>
              <a:defRPr sz="1725" b="0">
                <a:solidFill>
                  <a:srgbClr val="516474"/>
                </a:solidFill>
                <a:latin typeface="Arial"/>
                <a:ea typeface="Arial"/>
                <a:cs typeface="Arial"/>
              </a:defRPr>
            </a:pPr>
            <a:r>
              <a:rPr sz="1725" b="0">
                <a:solidFill>
                  <a:srgbClr val="516474"/>
                </a:solidFill>
                <a:latin typeface="Arial"/>
                <a:ea typeface="Arial"/>
                <a:cs typeface="Arial"/>
              </a:rPr>
              <a:t>Conversion = subscriptions ÷ records. Unknown categories remain visible.</a:t>
            </a:r>
          </a:p>
        </p:txBody>
      </p:sp>
    </p:spTree>
    <p:extLst>
      <p:ext uri="{BB962C8B-B14F-4D97-AF65-F5344CB8AC3E}">
        <p14:creationId xmlns:p14="http://schemas.microsoft.com/office/powerpoint/2010/main" val="279686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5315E2-F96D-47A1-824D-876D1407D6D8}"/>
              </a:ext>
            </a:extLst>
          </p:cNvPr>
          <p:cNvSpPr>
            <a:spLocks noGrp="1"/>
          </p:cNvSpPr>
          <p:nvPr/>
        </p:nvSpPr>
        <p:spPr>
          <a:xfrm>
            <a:off x="571500" y="400050"/>
            <a:ext cx="11049000" cy="762000"/>
          </a:xfrm>
          <a:prstGeom prst="rect">
            <a:avLst/>
          </a:prstGeom>
          <a:noFill/>
          <a:ln w="0">
            <a:noFill/>
          </a:ln>
        </p:spPr>
        <p:txBody>
          <a:bodyPr/>
          <a:lstStyle>
            <a:defPPr>
              <a:defRPr sz="3150" b="1">
                <a:solidFill>
                  <a:srgbClr val="172C40"/>
                </a:solidFill>
                <a:latin typeface="Arial"/>
                <a:ea typeface="Arial"/>
                <a:cs typeface="Arial"/>
              </a:defRPr>
            </a:defPPr>
          </a:lstStyle>
          <a:p>
            <a:pPr>
              <a:defRPr sz="3150" b="1">
                <a:solidFill>
                  <a:srgbClr val="172C40"/>
                </a:solidFill>
                <a:latin typeface="Arial"/>
                <a:ea typeface="Arial"/>
                <a:cs typeface="Arial"/>
              </a:defRPr>
            </a:pPr>
            <a:r>
              <a:rPr sz="3150" b="1">
                <a:solidFill>
                  <a:srgbClr val="172C40"/>
                </a:solidFill>
                <a:latin typeface="Arial"/>
                <a:ea typeface="Arial"/>
                <a:cs typeface="Arial"/>
              </a:rPr>
              <a:t>Prior success and repeated contact stand out</a:t>
            </a:r>
          </a:p>
        </p:txBody>
      </p:sp>
      <p:sp>
        <p:nvSpPr>
          <p:cNvPr id="2" name="Rectangle 1">
            <a:extLst>
              <a:ext uri="{FF2B5EF4-FFF2-40B4-BE49-F238E27FC236}">
                <a16:creationId xmlns:a16="http://schemas.microsoft.com/office/drawing/2014/main" id="{AA657BDE-149D-4FEF-8214-FFEBCC4E98C3}"/>
              </a:ext>
            </a:extLst>
          </p:cNvPr>
          <p:cNvSpPr>
            <a:spLocks noGrp="1"/>
          </p:cNvSpPr>
          <p:nvPr/>
        </p:nvSpPr>
        <p:spPr>
          <a:xfrm>
            <a:off x="571500" y="6496050"/>
            <a:ext cx="5715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lang="en-GB" sz="1125" dirty="0">
                <a:solidFill>
                  <a:srgbClr val="516474"/>
                </a:solidFill>
                <a:latin typeface="Arial"/>
                <a:ea typeface="Arial"/>
                <a:cs typeface="Arial"/>
              </a:rPr>
              <a:t>Bank marketing analysis _ Presented by: Usman Akbar</a:t>
            </a:r>
          </a:p>
        </p:txBody>
      </p:sp>
      <p:sp>
        <p:nvSpPr>
          <p:cNvPr id="3" name="Rectangle 2">
            <a:extLst>
              <a:ext uri="{FF2B5EF4-FFF2-40B4-BE49-F238E27FC236}">
                <a16:creationId xmlns:a16="http://schemas.microsoft.com/office/drawing/2014/main" id="{42D285CF-9E9A-4548-B973-01ACFE3EB0AF}"/>
              </a:ext>
            </a:extLst>
          </p:cNvPr>
          <p:cNvSpPr>
            <a:spLocks noGrp="1"/>
          </p:cNvSpPr>
          <p:nvPr/>
        </p:nvSpPr>
        <p:spPr>
          <a:xfrm>
            <a:off x="11287125" y="6496050"/>
            <a:ext cx="381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sz="1125" b="0">
                <a:solidFill>
                  <a:srgbClr val="516474"/>
                </a:solidFill>
                <a:latin typeface="Arial"/>
                <a:ea typeface="Arial"/>
                <a:cs typeface="Arial"/>
              </a:rPr>
              <a:t>3</a:t>
            </a:r>
          </a:p>
        </p:txBody>
      </p:sp>
      <p:graphicFrame>
        <p:nvGraphicFramePr>
          <p:cNvPr id="4" name="Chart">
            <a:extLst>
              <a:ext uri="{FF2B5EF4-FFF2-40B4-BE49-F238E27FC236}">
                <a16:creationId xmlns:a16="http://schemas.microsoft.com/office/drawing/2014/main" id="{22147C69-F4B9-449C-B518-FCC56E792BB6}"/>
              </a:ext>
            </a:extLst>
          </p:cNvPr>
          <p:cNvGraphicFramePr/>
          <p:nvPr/>
        </p:nvGraphicFramePr>
        <p:xfrm>
          <a:off x="571500" y="1362075"/>
          <a:ext cx="5276850" cy="2762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a:extLst>
              <a:ext uri="{FF2B5EF4-FFF2-40B4-BE49-F238E27FC236}">
                <a16:creationId xmlns:a16="http://schemas.microsoft.com/office/drawing/2014/main" id="{966C2E39-26E7-43B3-971D-A22CAA8A7255}"/>
              </a:ext>
            </a:extLst>
          </p:cNvPr>
          <p:cNvGraphicFramePr/>
          <p:nvPr/>
        </p:nvGraphicFramePr>
        <p:xfrm>
          <a:off x="6343650" y="1362075"/>
          <a:ext cx="5276850" cy="27622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e 5">
            <a:extLst>
              <a:ext uri="{FF2B5EF4-FFF2-40B4-BE49-F238E27FC236}">
                <a16:creationId xmlns:a16="http://schemas.microsoft.com/office/drawing/2014/main" id="{88BF4B19-419E-4FF3-AA2C-434F1E07E572}"/>
              </a:ext>
            </a:extLst>
          </p:cNvPr>
          <p:cNvGraphicFramePr/>
          <p:nvPr/>
        </p:nvGraphicFramePr>
        <p:xfrm>
          <a:off x="571500" y="4171950"/>
          <a:ext cx="5276850" cy="1533525"/>
        </p:xfrm>
        <a:graphic>
          <a:graphicData uri="http://schemas.openxmlformats.org/drawingml/2006/table">
            <a:tbl>
              <a:tblPr/>
              <a:tblGrid>
                <a:gridCol w="1758950">
                  <a:extLst>
                    <a:ext uri="{9D8B030D-6E8A-4147-A177-3AD203B41FA5}">
                      <a16:colId xmlns:a16="http://schemas.microsoft.com/office/drawing/2014/main" val="20000"/>
                    </a:ext>
                  </a:extLst>
                </a:gridCol>
                <a:gridCol w="1758950">
                  <a:extLst>
                    <a:ext uri="{9D8B030D-6E8A-4147-A177-3AD203B41FA5}">
                      <a16:colId xmlns:a16="http://schemas.microsoft.com/office/drawing/2014/main" val="20001"/>
                    </a:ext>
                  </a:extLst>
                </a:gridCol>
                <a:gridCol w="1758950">
                  <a:extLst>
                    <a:ext uri="{9D8B030D-6E8A-4147-A177-3AD203B41FA5}">
                      <a16:colId xmlns:a16="http://schemas.microsoft.com/office/drawing/2014/main" val="20002"/>
                    </a:ext>
                  </a:extLst>
                </a:gridCol>
              </a:tblGrid>
              <a:tr h="306705">
                <a:tc>
                  <a:txBody>
                    <a:bodyPr/>
                    <a:lstStyle/>
                    <a:p>
                      <a:r>
                        <a:rPr sz="1275" b="1">
                          <a:solidFill>
                            <a:srgbClr val="172C40"/>
                          </a:solidFill>
                          <a:latin typeface="Arial"/>
                          <a:ea typeface="Arial"/>
                          <a:cs typeface="Arial"/>
                        </a:rPr>
                        <a:t>Outcome</a:t>
                      </a:r>
                    </a:p>
                  </a:txBody>
                  <a:tcPr>
                    <a:solidFill>
                      <a:srgbClr val="E6EEF2"/>
                    </a:solidFill>
                  </a:tcPr>
                </a:tc>
                <a:tc>
                  <a:txBody>
                    <a:bodyPr/>
                    <a:lstStyle/>
                    <a:p>
                      <a:r>
                        <a:rPr sz="1275" b="1">
                          <a:solidFill>
                            <a:srgbClr val="172C40"/>
                          </a:solidFill>
                          <a:latin typeface="Arial"/>
                          <a:ea typeface="Arial"/>
                          <a:cs typeface="Arial"/>
                        </a:rPr>
                        <a:t>Records</a:t>
                      </a:r>
                    </a:p>
                  </a:txBody>
                  <a:tcPr>
                    <a:solidFill>
                      <a:srgbClr val="E6EEF2"/>
                    </a:solidFill>
                  </a:tcPr>
                </a:tc>
                <a:tc>
                  <a:txBody>
                    <a:bodyPr/>
                    <a:lstStyle/>
                    <a:p>
                      <a:r>
                        <a:rPr sz="1275" b="1">
                          <a:solidFill>
                            <a:srgbClr val="172C40"/>
                          </a:solidFill>
                          <a:latin typeface="Arial"/>
                          <a:ea typeface="Arial"/>
                          <a:cs typeface="Arial"/>
                        </a:rPr>
                        <a:t>Subscriptions</a:t>
                      </a:r>
                    </a:p>
                  </a:txBody>
                  <a:tcPr>
                    <a:solidFill>
                      <a:srgbClr val="E6EEF2"/>
                    </a:solidFill>
                  </a:tcPr>
                </a:tc>
                <a:extLst>
                  <a:ext uri="{0D108BD9-81ED-4DB2-BD59-A6C34878D82A}">
                    <a16:rowId xmlns:a16="http://schemas.microsoft.com/office/drawing/2014/main" val="10000"/>
                  </a:ext>
                </a:extLst>
              </a:tr>
              <a:tr h="306705">
                <a:tc>
                  <a:txBody>
                    <a:bodyPr/>
                    <a:lstStyle/>
                    <a:p>
                      <a:r>
                        <a:rPr sz="1275" b="0">
                          <a:solidFill>
                            <a:srgbClr val="172C40"/>
                          </a:solidFill>
                          <a:latin typeface="Arial"/>
                          <a:ea typeface="Arial"/>
                          <a:cs typeface="Arial"/>
                        </a:rPr>
                        <a:t>success</a:t>
                      </a:r>
                    </a:p>
                  </a:txBody>
                  <a:tcPr>
                    <a:solidFill>
                      <a:srgbClr val="FFFFFF"/>
                    </a:solidFill>
                  </a:tcPr>
                </a:tc>
                <a:tc>
                  <a:txBody>
                    <a:bodyPr/>
                    <a:lstStyle/>
                    <a:p>
                      <a:r>
                        <a:rPr sz="1275" b="0">
                          <a:solidFill>
                            <a:srgbClr val="172C40"/>
                          </a:solidFill>
                          <a:latin typeface="Arial"/>
                          <a:ea typeface="Arial"/>
                          <a:cs typeface="Arial"/>
                        </a:rPr>
                        <a:t>129</a:t>
                      </a:r>
                    </a:p>
                  </a:txBody>
                  <a:tcPr>
                    <a:solidFill>
                      <a:srgbClr val="FFFFFF"/>
                    </a:solidFill>
                  </a:tcPr>
                </a:tc>
                <a:tc>
                  <a:txBody>
                    <a:bodyPr/>
                    <a:lstStyle/>
                    <a:p>
                      <a:r>
                        <a:rPr sz="1275" b="0">
                          <a:solidFill>
                            <a:srgbClr val="172C40"/>
                          </a:solidFill>
                          <a:latin typeface="Arial"/>
                          <a:ea typeface="Arial"/>
                          <a:cs typeface="Arial"/>
                        </a:rPr>
                        <a:t>83</a:t>
                      </a:r>
                    </a:p>
                  </a:txBody>
                  <a:tcPr>
                    <a:solidFill>
                      <a:srgbClr val="FFFFFF"/>
                    </a:solidFill>
                  </a:tcPr>
                </a:tc>
                <a:extLst>
                  <a:ext uri="{0D108BD9-81ED-4DB2-BD59-A6C34878D82A}">
                    <a16:rowId xmlns:a16="http://schemas.microsoft.com/office/drawing/2014/main" val="10001"/>
                  </a:ext>
                </a:extLst>
              </a:tr>
              <a:tr h="306705">
                <a:tc>
                  <a:txBody>
                    <a:bodyPr/>
                    <a:lstStyle/>
                    <a:p>
                      <a:r>
                        <a:rPr sz="1275" b="0">
                          <a:solidFill>
                            <a:srgbClr val="172C40"/>
                          </a:solidFill>
                          <a:latin typeface="Arial"/>
                          <a:ea typeface="Arial"/>
                          <a:cs typeface="Arial"/>
                        </a:rPr>
                        <a:t>other</a:t>
                      </a:r>
                    </a:p>
                  </a:txBody>
                  <a:tcPr>
                    <a:solidFill>
                      <a:srgbClr val="FFFFFF"/>
                    </a:solidFill>
                  </a:tcPr>
                </a:tc>
                <a:tc>
                  <a:txBody>
                    <a:bodyPr/>
                    <a:lstStyle/>
                    <a:p>
                      <a:r>
                        <a:rPr sz="1275" b="0">
                          <a:solidFill>
                            <a:srgbClr val="172C40"/>
                          </a:solidFill>
                          <a:latin typeface="Arial"/>
                          <a:ea typeface="Arial"/>
                          <a:cs typeface="Arial"/>
                        </a:rPr>
                        <a:t>197</a:t>
                      </a:r>
                    </a:p>
                  </a:txBody>
                  <a:tcPr>
                    <a:solidFill>
                      <a:srgbClr val="FFFFFF"/>
                    </a:solidFill>
                  </a:tcPr>
                </a:tc>
                <a:tc>
                  <a:txBody>
                    <a:bodyPr/>
                    <a:lstStyle/>
                    <a:p>
                      <a:r>
                        <a:rPr sz="1275" b="0">
                          <a:solidFill>
                            <a:srgbClr val="172C40"/>
                          </a:solidFill>
                          <a:latin typeface="Arial"/>
                          <a:ea typeface="Arial"/>
                          <a:cs typeface="Arial"/>
                        </a:rPr>
                        <a:t>38</a:t>
                      </a:r>
                    </a:p>
                  </a:txBody>
                  <a:tcPr>
                    <a:solidFill>
                      <a:srgbClr val="FFFFFF"/>
                    </a:solidFill>
                  </a:tcPr>
                </a:tc>
                <a:extLst>
                  <a:ext uri="{0D108BD9-81ED-4DB2-BD59-A6C34878D82A}">
                    <a16:rowId xmlns:a16="http://schemas.microsoft.com/office/drawing/2014/main" val="10002"/>
                  </a:ext>
                </a:extLst>
              </a:tr>
              <a:tr h="306705">
                <a:tc>
                  <a:txBody>
                    <a:bodyPr/>
                    <a:lstStyle/>
                    <a:p>
                      <a:r>
                        <a:rPr sz="1275" b="0">
                          <a:solidFill>
                            <a:srgbClr val="172C40"/>
                          </a:solidFill>
                          <a:latin typeface="Arial"/>
                          <a:ea typeface="Arial"/>
                          <a:cs typeface="Arial"/>
                        </a:rPr>
                        <a:t>failure</a:t>
                      </a:r>
                    </a:p>
                  </a:txBody>
                  <a:tcPr>
                    <a:solidFill>
                      <a:srgbClr val="FFFFFF"/>
                    </a:solidFill>
                  </a:tcPr>
                </a:tc>
                <a:tc>
                  <a:txBody>
                    <a:bodyPr/>
                    <a:lstStyle/>
                    <a:p>
                      <a:r>
                        <a:rPr sz="1275" b="0">
                          <a:solidFill>
                            <a:srgbClr val="172C40"/>
                          </a:solidFill>
                          <a:latin typeface="Arial"/>
                          <a:ea typeface="Arial"/>
                          <a:cs typeface="Arial"/>
                        </a:rPr>
                        <a:t>490</a:t>
                      </a:r>
                    </a:p>
                  </a:txBody>
                  <a:tcPr>
                    <a:solidFill>
                      <a:srgbClr val="FFFFFF"/>
                    </a:solidFill>
                  </a:tcPr>
                </a:tc>
                <a:tc>
                  <a:txBody>
                    <a:bodyPr/>
                    <a:lstStyle/>
                    <a:p>
                      <a:r>
                        <a:rPr sz="1275" b="0">
                          <a:solidFill>
                            <a:srgbClr val="172C40"/>
                          </a:solidFill>
                          <a:latin typeface="Arial"/>
                          <a:ea typeface="Arial"/>
                          <a:cs typeface="Arial"/>
                        </a:rPr>
                        <a:t>63</a:t>
                      </a:r>
                    </a:p>
                  </a:txBody>
                  <a:tcPr>
                    <a:solidFill>
                      <a:srgbClr val="FFFFFF"/>
                    </a:solidFill>
                  </a:tcPr>
                </a:tc>
                <a:extLst>
                  <a:ext uri="{0D108BD9-81ED-4DB2-BD59-A6C34878D82A}">
                    <a16:rowId xmlns:a16="http://schemas.microsoft.com/office/drawing/2014/main" val="10003"/>
                  </a:ext>
                </a:extLst>
              </a:tr>
              <a:tr h="306705">
                <a:tc>
                  <a:txBody>
                    <a:bodyPr/>
                    <a:lstStyle/>
                    <a:p>
                      <a:r>
                        <a:rPr sz="1275" b="0">
                          <a:solidFill>
                            <a:srgbClr val="172C40"/>
                          </a:solidFill>
                          <a:latin typeface="Arial"/>
                          <a:ea typeface="Arial"/>
                          <a:cs typeface="Arial"/>
                        </a:rPr>
                        <a:t>unknown</a:t>
                      </a:r>
                    </a:p>
                  </a:txBody>
                  <a:tcPr>
                    <a:solidFill>
                      <a:srgbClr val="FFFFFF"/>
                    </a:solidFill>
                  </a:tcPr>
                </a:tc>
                <a:tc>
                  <a:txBody>
                    <a:bodyPr/>
                    <a:lstStyle/>
                    <a:p>
                      <a:r>
                        <a:rPr sz="1275" b="0">
                          <a:solidFill>
                            <a:srgbClr val="172C40"/>
                          </a:solidFill>
                          <a:latin typeface="Arial"/>
                          <a:ea typeface="Arial"/>
                          <a:cs typeface="Arial"/>
                        </a:rPr>
                        <a:t>3,705</a:t>
                      </a:r>
                    </a:p>
                  </a:txBody>
                  <a:tcPr>
                    <a:solidFill>
                      <a:srgbClr val="FFFFFF"/>
                    </a:solidFill>
                  </a:tcPr>
                </a:tc>
                <a:tc>
                  <a:txBody>
                    <a:bodyPr/>
                    <a:lstStyle/>
                    <a:p>
                      <a:r>
                        <a:rPr sz="1275" b="0">
                          <a:solidFill>
                            <a:srgbClr val="172C40"/>
                          </a:solidFill>
                          <a:latin typeface="Arial"/>
                          <a:ea typeface="Arial"/>
                          <a:cs typeface="Arial"/>
                        </a:rPr>
                        <a:t>337</a:t>
                      </a:r>
                    </a:p>
                  </a:txBody>
                  <a:tcPr>
                    <a:solidFill>
                      <a:srgbClr val="FFFFFF"/>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4B8C4DA7-F3A0-42E2-BC46-F9EBA7552AB4}"/>
              </a:ext>
            </a:extLst>
          </p:cNvPr>
          <p:cNvSpPr>
            <a:spLocks noGrp="1"/>
          </p:cNvSpPr>
          <p:nvPr/>
        </p:nvSpPr>
        <p:spPr>
          <a:xfrm>
            <a:off x="6524625" y="4352925"/>
            <a:ext cx="4762500" cy="342900"/>
          </a:xfrm>
          <a:prstGeom prst="rect">
            <a:avLst/>
          </a:prstGeom>
          <a:noFill/>
          <a:ln w="0">
            <a:noFill/>
          </a:ln>
        </p:spPr>
        <p:txBody>
          <a:bodyPr/>
          <a:lstStyle>
            <a:defPPr>
              <a:defRPr sz="2100" b="1">
                <a:solidFill>
                  <a:srgbClr val="087F8C"/>
                </a:solidFill>
                <a:latin typeface="Arial"/>
                <a:ea typeface="Arial"/>
                <a:cs typeface="Arial"/>
              </a:defRPr>
            </a:defPPr>
          </a:lstStyle>
          <a:p>
            <a:pPr>
              <a:defRPr sz="2100" b="1">
                <a:solidFill>
                  <a:srgbClr val="087F8C"/>
                </a:solidFill>
                <a:latin typeface="Arial"/>
                <a:ea typeface="Arial"/>
                <a:cs typeface="Arial"/>
              </a:defRPr>
            </a:pPr>
            <a:r>
              <a:rPr sz="2100" b="1">
                <a:solidFill>
                  <a:srgbClr val="087F8C"/>
                </a:solidFill>
                <a:latin typeface="Arial"/>
                <a:ea typeface="Arial"/>
                <a:cs typeface="Arial"/>
              </a:rPr>
              <a:t>6+ contacts</a:t>
            </a:r>
          </a:p>
        </p:txBody>
      </p:sp>
      <p:sp>
        <p:nvSpPr>
          <p:cNvPr id="8" name="Rectangle 7">
            <a:extLst>
              <a:ext uri="{FF2B5EF4-FFF2-40B4-BE49-F238E27FC236}">
                <a16:creationId xmlns:a16="http://schemas.microsoft.com/office/drawing/2014/main" id="{6D1F0311-35FF-4367-9DC8-DAF21A7937A7}"/>
              </a:ext>
            </a:extLst>
          </p:cNvPr>
          <p:cNvSpPr>
            <a:spLocks noGrp="1"/>
          </p:cNvSpPr>
          <p:nvPr/>
        </p:nvSpPr>
        <p:spPr>
          <a:xfrm>
            <a:off x="6524625" y="4800600"/>
            <a:ext cx="4619625" cy="1000125"/>
          </a:xfrm>
          <a:prstGeom prst="rect">
            <a:avLst/>
          </a:prstGeom>
          <a:noFill/>
          <a:ln w="0">
            <a:noFill/>
          </a:ln>
        </p:spPr>
        <p:txBody>
          <a:bodyPr/>
          <a:lstStyle>
            <a:defPPr>
              <a:defRPr sz="1950" b="0">
                <a:solidFill>
                  <a:srgbClr val="172C40"/>
                </a:solidFill>
                <a:latin typeface="Arial"/>
                <a:ea typeface="Arial"/>
                <a:cs typeface="Arial"/>
              </a:defRPr>
            </a:defPPr>
          </a:lstStyle>
          <a:p>
            <a:pPr>
              <a:defRPr sz="1950" b="0">
                <a:solidFill>
                  <a:srgbClr val="172C40"/>
                </a:solidFill>
                <a:latin typeface="Arial"/>
                <a:ea typeface="Arial"/>
                <a:cs typeface="Arial"/>
              </a:defRPr>
            </a:pPr>
            <a:r>
              <a:rPr sz="1950" b="0">
                <a:solidFill>
                  <a:srgbClr val="172C40"/>
                </a:solidFill>
                <a:latin typeface="Arial"/>
                <a:ea typeface="Arial"/>
                <a:cs typeface="Arial"/>
              </a:rPr>
              <a:t>36.10% of contact activity</a:t>
            </a:r>
          </a:p>
          <a:p>
            <a:pPr>
              <a:defRPr sz="1950" b="0">
                <a:solidFill>
                  <a:srgbClr val="172C40"/>
                </a:solidFill>
                <a:latin typeface="Arial"/>
                <a:ea typeface="Arial"/>
                <a:cs typeface="Arial"/>
              </a:defRPr>
            </a:pPr>
            <a:r>
              <a:rPr sz="1950" b="0">
                <a:solidFill>
                  <a:srgbClr val="172C40"/>
                </a:solidFill>
                <a:latin typeface="Arial"/>
                <a:ea typeface="Arial"/>
                <a:cs typeface="Arial"/>
              </a:rPr>
              <a:t>6.53% of subscriptions</a:t>
            </a:r>
          </a:p>
          <a:p>
            <a:pPr>
              <a:defRPr sz="1950" b="0">
                <a:solidFill>
                  <a:srgbClr val="172C40"/>
                </a:solidFill>
                <a:latin typeface="Arial"/>
                <a:ea typeface="Arial"/>
                <a:cs typeface="Arial"/>
              </a:defRPr>
            </a:pPr>
            <a:r>
              <a:rPr sz="1950" b="0">
                <a:solidFill>
                  <a:srgbClr val="172C40"/>
                </a:solidFill>
                <a:latin typeface="Arial"/>
                <a:ea typeface="Arial"/>
                <a:cs typeface="Arial"/>
              </a:rPr>
              <a:t>7.19% conversion</a:t>
            </a:r>
          </a:p>
        </p:txBody>
      </p:sp>
      <p:sp>
        <p:nvSpPr>
          <p:cNvPr id="9" name="Rectangle 8">
            <a:extLst>
              <a:ext uri="{FF2B5EF4-FFF2-40B4-BE49-F238E27FC236}">
                <a16:creationId xmlns:a16="http://schemas.microsoft.com/office/drawing/2014/main" id="{AD30ADDF-9DDB-4323-9ED6-172822B1B33C}"/>
              </a:ext>
            </a:extLst>
          </p:cNvPr>
          <p:cNvSpPr>
            <a:spLocks noGrp="1"/>
          </p:cNvSpPr>
          <p:nvPr/>
        </p:nvSpPr>
        <p:spPr>
          <a:xfrm>
            <a:off x="571500" y="5962650"/>
            <a:ext cx="10953750" cy="342900"/>
          </a:xfrm>
          <a:prstGeom prst="rect">
            <a:avLst/>
          </a:prstGeom>
          <a:noFill/>
          <a:ln w="0">
            <a:noFill/>
          </a:ln>
        </p:spPr>
        <p:txBody>
          <a:bodyPr/>
          <a:lstStyle>
            <a:defPPr>
              <a:defRPr sz="1725" b="1">
                <a:solidFill>
                  <a:srgbClr val="172C40"/>
                </a:solidFill>
                <a:latin typeface="Arial"/>
                <a:ea typeface="Arial"/>
                <a:cs typeface="Arial"/>
              </a:defRPr>
            </a:defPPr>
          </a:lstStyle>
          <a:p>
            <a:pPr>
              <a:defRPr sz="1725" b="1">
                <a:solidFill>
                  <a:srgbClr val="172C40"/>
                </a:solidFill>
                <a:latin typeface="Arial"/>
                <a:ea typeface="Arial"/>
                <a:cs typeface="Arial"/>
              </a:defRPr>
            </a:pPr>
            <a:r>
              <a:rPr sz="1725" b="1">
                <a:solidFill>
                  <a:srgbClr val="172C40"/>
                </a:solidFill>
                <a:latin typeface="Arial"/>
                <a:ea typeface="Arial"/>
                <a:cs typeface="Arial"/>
              </a:rPr>
              <a:t>Previous success: 5.58× overall conversion, but only 2.85% of records.</a:t>
            </a:r>
          </a:p>
        </p:txBody>
      </p:sp>
    </p:spTree>
    <p:extLst>
      <p:ext uri="{BB962C8B-B14F-4D97-AF65-F5344CB8AC3E}">
        <p14:creationId xmlns:p14="http://schemas.microsoft.com/office/powerpoint/2010/main" val="1740128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7139115-E3BA-4FB1-9173-7D89F3F8BE4A}"/>
              </a:ext>
            </a:extLst>
          </p:cNvPr>
          <p:cNvSpPr>
            <a:spLocks noGrp="1"/>
          </p:cNvSpPr>
          <p:nvPr/>
        </p:nvSpPr>
        <p:spPr>
          <a:xfrm>
            <a:off x="571500" y="400050"/>
            <a:ext cx="11049000" cy="762000"/>
          </a:xfrm>
          <a:prstGeom prst="rect">
            <a:avLst/>
          </a:prstGeom>
          <a:noFill/>
          <a:ln w="0">
            <a:noFill/>
          </a:ln>
        </p:spPr>
        <p:txBody>
          <a:bodyPr/>
          <a:lstStyle>
            <a:defPPr>
              <a:defRPr sz="3150" b="1">
                <a:solidFill>
                  <a:srgbClr val="172C40"/>
                </a:solidFill>
                <a:latin typeface="Arial"/>
                <a:ea typeface="Arial"/>
                <a:cs typeface="Arial"/>
              </a:defRPr>
            </a:defPPr>
          </a:lstStyle>
          <a:p>
            <a:pPr>
              <a:defRPr sz="3150" b="1">
                <a:solidFill>
                  <a:srgbClr val="172C40"/>
                </a:solidFill>
                <a:latin typeface="Arial"/>
                <a:ea typeface="Arial"/>
                <a:cs typeface="Arial"/>
              </a:defRPr>
            </a:pPr>
            <a:r>
              <a:rPr sz="3150" b="1">
                <a:solidFill>
                  <a:srgbClr val="172C40"/>
                </a:solidFill>
                <a:latin typeface="Arial"/>
                <a:ea typeface="Arial"/>
                <a:cs typeface="Arial"/>
              </a:rPr>
              <a:t>Recommendations for controlled tests</a:t>
            </a:r>
          </a:p>
        </p:txBody>
      </p:sp>
      <p:sp>
        <p:nvSpPr>
          <p:cNvPr id="2" name="Rectangle 1">
            <a:extLst>
              <a:ext uri="{FF2B5EF4-FFF2-40B4-BE49-F238E27FC236}">
                <a16:creationId xmlns:a16="http://schemas.microsoft.com/office/drawing/2014/main" id="{2326E1A5-3FA6-4DAB-92CF-C6D1BD8CF5ED}"/>
              </a:ext>
            </a:extLst>
          </p:cNvPr>
          <p:cNvSpPr>
            <a:spLocks noGrp="1"/>
          </p:cNvSpPr>
          <p:nvPr/>
        </p:nvSpPr>
        <p:spPr>
          <a:xfrm>
            <a:off x="571500" y="6496050"/>
            <a:ext cx="5715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lang="en-GB" sz="1125" dirty="0">
                <a:solidFill>
                  <a:srgbClr val="516474"/>
                </a:solidFill>
                <a:latin typeface="Arial"/>
                <a:ea typeface="Arial"/>
                <a:cs typeface="Arial"/>
              </a:rPr>
              <a:t>Bank marketing analysis _ Presented by: Usman Akbar</a:t>
            </a:r>
          </a:p>
        </p:txBody>
      </p:sp>
      <p:sp>
        <p:nvSpPr>
          <p:cNvPr id="3" name="Rectangle 2">
            <a:extLst>
              <a:ext uri="{FF2B5EF4-FFF2-40B4-BE49-F238E27FC236}">
                <a16:creationId xmlns:a16="http://schemas.microsoft.com/office/drawing/2014/main" id="{7182FF72-B72C-4822-B4A9-A1FF2C53296A}"/>
              </a:ext>
            </a:extLst>
          </p:cNvPr>
          <p:cNvSpPr>
            <a:spLocks noGrp="1"/>
          </p:cNvSpPr>
          <p:nvPr/>
        </p:nvSpPr>
        <p:spPr>
          <a:xfrm>
            <a:off x="11287125" y="6496050"/>
            <a:ext cx="381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sz="1125" b="0">
                <a:solidFill>
                  <a:srgbClr val="516474"/>
                </a:solidFill>
                <a:latin typeface="Arial"/>
                <a:ea typeface="Arial"/>
                <a:cs typeface="Arial"/>
              </a:rPr>
              <a:t>4</a:t>
            </a:r>
          </a:p>
        </p:txBody>
      </p:sp>
      <p:sp>
        <p:nvSpPr>
          <p:cNvPr id="4" name="Rectangle 3">
            <a:extLst>
              <a:ext uri="{FF2B5EF4-FFF2-40B4-BE49-F238E27FC236}">
                <a16:creationId xmlns:a16="http://schemas.microsoft.com/office/drawing/2014/main" id="{430A6022-9F4D-47BE-8287-04D1A34CA88A}"/>
              </a:ext>
            </a:extLst>
          </p:cNvPr>
          <p:cNvSpPr>
            <a:spLocks noGrp="1"/>
          </p:cNvSpPr>
          <p:nvPr/>
        </p:nvSpPr>
        <p:spPr>
          <a:xfrm>
            <a:off x="571500" y="1447800"/>
            <a:ext cx="3905250" cy="381000"/>
          </a:xfrm>
          <a:prstGeom prst="rect">
            <a:avLst/>
          </a:prstGeom>
          <a:noFill/>
          <a:ln w="0">
            <a:noFill/>
          </a:ln>
        </p:spPr>
        <p:txBody>
          <a:bodyPr/>
          <a:lstStyle>
            <a:defPPr>
              <a:defRPr sz="2175" b="1">
                <a:solidFill>
                  <a:srgbClr val="087F8C"/>
                </a:solidFill>
                <a:latin typeface="Arial"/>
                <a:ea typeface="Arial"/>
                <a:cs typeface="Arial"/>
              </a:defRPr>
            </a:defPPr>
          </a:lstStyle>
          <a:p>
            <a:pPr>
              <a:defRPr sz="2175" b="1">
                <a:solidFill>
                  <a:srgbClr val="087F8C"/>
                </a:solidFill>
                <a:latin typeface="Arial"/>
                <a:ea typeface="Arial"/>
                <a:cs typeface="Arial"/>
              </a:defRPr>
            </a:pPr>
            <a:r>
              <a:rPr sz="2175" b="1">
                <a:solidFill>
                  <a:srgbClr val="087F8C"/>
                </a:solidFill>
                <a:latin typeface="Arial"/>
                <a:ea typeface="Arial"/>
                <a:cs typeface="Arial"/>
              </a:rPr>
              <a:t>Prior-success follow-up</a:t>
            </a:r>
          </a:p>
        </p:txBody>
      </p:sp>
      <p:sp>
        <p:nvSpPr>
          <p:cNvPr id="5" name="Rectangle 4">
            <a:extLst>
              <a:ext uri="{FF2B5EF4-FFF2-40B4-BE49-F238E27FC236}">
                <a16:creationId xmlns:a16="http://schemas.microsoft.com/office/drawing/2014/main" id="{23373826-7DC9-4C5C-BE46-63DD69D3F41F}"/>
              </a:ext>
            </a:extLst>
          </p:cNvPr>
          <p:cNvSpPr>
            <a:spLocks noGrp="1"/>
          </p:cNvSpPr>
          <p:nvPr/>
        </p:nvSpPr>
        <p:spPr>
          <a:xfrm>
            <a:off x="571500" y="1905000"/>
            <a:ext cx="3905250" cy="495300"/>
          </a:xfrm>
          <a:prstGeom prst="rect">
            <a:avLst/>
          </a:prstGeom>
          <a:noFill/>
          <a:ln w="0">
            <a:noFill/>
          </a:ln>
        </p:spPr>
        <p:txBody>
          <a:bodyPr/>
          <a:lstStyle>
            <a:defPPr>
              <a:defRPr sz="1575" b="0">
                <a:solidFill>
                  <a:srgbClr val="516474"/>
                </a:solidFill>
                <a:latin typeface="Arial"/>
                <a:ea typeface="Arial"/>
                <a:cs typeface="Arial"/>
              </a:defRPr>
            </a:defPPr>
          </a:lstStyle>
          <a:p>
            <a:pPr>
              <a:defRPr sz="1575" b="0">
                <a:solidFill>
                  <a:srgbClr val="516474"/>
                </a:solidFill>
                <a:latin typeface="Arial"/>
                <a:ea typeface="Arial"/>
                <a:cs typeface="Arial"/>
              </a:defRPr>
            </a:pPr>
            <a:r>
              <a:rPr sz="1575" b="0">
                <a:solidFill>
                  <a:srgbClr val="516474"/>
                </a:solidFill>
                <a:latin typeface="Arial"/>
                <a:ea typeface="Arial"/>
                <a:cs typeface="Arial"/>
              </a:rPr>
              <a:t>Proposed owner: Campaign manager</a:t>
            </a:r>
          </a:p>
        </p:txBody>
      </p:sp>
      <p:sp>
        <p:nvSpPr>
          <p:cNvPr id="6" name="Rectangle 5">
            <a:extLst>
              <a:ext uri="{FF2B5EF4-FFF2-40B4-BE49-F238E27FC236}">
                <a16:creationId xmlns:a16="http://schemas.microsoft.com/office/drawing/2014/main" id="{43A7FD67-B426-4568-A5F8-AA84CC4E4507}"/>
              </a:ext>
            </a:extLst>
          </p:cNvPr>
          <p:cNvSpPr>
            <a:spLocks noGrp="1"/>
          </p:cNvSpPr>
          <p:nvPr/>
        </p:nvSpPr>
        <p:spPr>
          <a:xfrm>
            <a:off x="4953000" y="1485900"/>
            <a:ext cx="6667500" cy="847725"/>
          </a:xfrm>
          <a:prstGeom prst="rect">
            <a:avLst/>
          </a:prstGeom>
          <a:noFill/>
          <a:ln w="0">
            <a:noFill/>
          </a:ln>
        </p:spPr>
        <p:txBody>
          <a:bodyPr/>
          <a:lstStyle>
            <a:defPPr>
              <a:defRPr sz="2100" b="0">
                <a:solidFill>
                  <a:srgbClr val="172C40"/>
                </a:solidFill>
                <a:latin typeface="Arial"/>
                <a:ea typeface="Arial"/>
                <a:cs typeface="Arial"/>
              </a:defRPr>
            </a:defPPr>
          </a:lstStyle>
          <a:p>
            <a:pPr>
              <a:defRPr sz="2100" b="0">
                <a:solidFill>
                  <a:srgbClr val="172C40"/>
                </a:solidFill>
                <a:latin typeface="Arial"/>
                <a:ea typeface="Arial"/>
                <a:cs typeface="Arial"/>
              </a:defRPr>
            </a:pPr>
            <a:r>
              <a:rPr sz="2100" b="0">
                <a:solidFill>
                  <a:srgbClr val="172C40"/>
                </a:solidFill>
                <a:latin typeface="Arial"/>
                <a:ea typeface="Arial"/>
                <a:cs typeface="Arial"/>
              </a:rPr>
              <a:t>Test a defined follow-up approach against current practice.</a:t>
            </a:r>
          </a:p>
        </p:txBody>
      </p:sp>
      <p:sp>
        <p:nvSpPr>
          <p:cNvPr id="7" name="Rectangle 6">
            <a:extLst>
              <a:ext uri="{FF2B5EF4-FFF2-40B4-BE49-F238E27FC236}">
                <a16:creationId xmlns:a16="http://schemas.microsoft.com/office/drawing/2014/main" id="{A5B0FB25-3987-4527-92C2-4FEB814C414F}"/>
              </a:ext>
            </a:extLst>
          </p:cNvPr>
          <p:cNvSpPr>
            <a:spLocks noGrp="1"/>
          </p:cNvSpPr>
          <p:nvPr/>
        </p:nvSpPr>
        <p:spPr>
          <a:xfrm>
            <a:off x="571500" y="2733675"/>
            <a:ext cx="3905250" cy="381000"/>
          </a:xfrm>
          <a:prstGeom prst="rect">
            <a:avLst/>
          </a:prstGeom>
          <a:noFill/>
          <a:ln w="0">
            <a:noFill/>
          </a:ln>
        </p:spPr>
        <p:txBody>
          <a:bodyPr/>
          <a:lstStyle>
            <a:defPPr>
              <a:defRPr sz="2175" b="1">
                <a:solidFill>
                  <a:srgbClr val="087F8C"/>
                </a:solidFill>
                <a:latin typeface="Arial"/>
                <a:ea typeface="Arial"/>
                <a:cs typeface="Arial"/>
              </a:defRPr>
            </a:defPPr>
          </a:lstStyle>
          <a:p>
            <a:pPr>
              <a:defRPr sz="2175" b="1">
                <a:solidFill>
                  <a:srgbClr val="087F8C"/>
                </a:solidFill>
                <a:latin typeface="Arial"/>
                <a:ea typeface="Arial"/>
                <a:cs typeface="Arial"/>
              </a:defRPr>
            </a:pPr>
            <a:r>
              <a:rPr sz="2175" b="1">
                <a:solidFill>
                  <a:srgbClr val="087F8C"/>
                </a:solidFill>
                <a:latin typeface="Arial"/>
                <a:ea typeface="Arial"/>
                <a:cs typeface="Arial"/>
              </a:rPr>
              <a:t>Repeated-contact review</a:t>
            </a:r>
          </a:p>
        </p:txBody>
      </p:sp>
      <p:sp>
        <p:nvSpPr>
          <p:cNvPr id="8" name="Rectangle 7">
            <a:extLst>
              <a:ext uri="{FF2B5EF4-FFF2-40B4-BE49-F238E27FC236}">
                <a16:creationId xmlns:a16="http://schemas.microsoft.com/office/drawing/2014/main" id="{8D3E5568-DE1D-46A1-8194-FBFC74FDADA3}"/>
              </a:ext>
            </a:extLst>
          </p:cNvPr>
          <p:cNvSpPr>
            <a:spLocks noGrp="1"/>
          </p:cNvSpPr>
          <p:nvPr/>
        </p:nvSpPr>
        <p:spPr>
          <a:xfrm>
            <a:off x="571500" y="3190875"/>
            <a:ext cx="3905250" cy="495300"/>
          </a:xfrm>
          <a:prstGeom prst="rect">
            <a:avLst/>
          </a:prstGeom>
          <a:noFill/>
          <a:ln w="0">
            <a:noFill/>
          </a:ln>
        </p:spPr>
        <p:txBody>
          <a:bodyPr/>
          <a:lstStyle>
            <a:defPPr>
              <a:defRPr sz="1575" b="0">
                <a:solidFill>
                  <a:srgbClr val="516474"/>
                </a:solidFill>
                <a:latin typeface="Arial"/>
                <a:ea typeface="Arial"/>
                <a:cs typeface="Arial"/>
              </a:defRPr>
            </a:defPPr>
          </a:lstStyle>
          <a:p>
            <a:pPr>
              <a:defRPr sz="1575" b="0">
                <a:solidFill>
                  <a:srgbClr val="516474"/>
                </a:solidFill>
                <a:latin typeface="Arial"/>
                <a:ea typeface="Arial"/>
                <a:cs typeface="Arial"/>
              </a:defRPr>
            </a:pPr>
            <a:r>
              <a:rPr sz="1575" b="0">
                <a:solidFill>
                  <a:srgbClr val="516474"/>
                </a:solidFill>
                <a:latin typeface="Arial"/>
                <a:ea typeface="Arial"/>
                <a:cs typeface="Arial"/>
              </a:rPr>
              <a:t>Proposed owner: Contact-centre manager</a:t>
            </a:r>
          </a:p>
        </p:txBody>
      </p:sp>
      <p:sp>
        <p:nvSpPr>
          <p:cNvPr id="9" name="Rectangle 8">
            <a:extLst>
              <a:ext uri="{FF2B5EF4-FFF2-40B4-BE49-F238E27FC236}">
                <a16:creationId xmlns:a16="http://schemas.microsoft.com/office/drawing/2014/main" id="{7CE1C6CF-BCED-40C2-B7E8-6D87EFD37071}"/>
              </a:ext>
            </a:extLst>
          </p:cNvPr>
          <p:cNvSpPr>
            <a:spLocks noGrp="1"/>
          </p:cNvSpPr>
          <p:nvPr/>
        </p:nvSpPr>
        <p:spPr>
          <a:xfrm>
            <a:off x="4953000" y="2771775"/>
            <a:ext cx="6667500" cy="847725"/>
          </a:xfrm>
          <a:prstGeom prst="rect">
            <a:avLst/>
          </a:prstGeom>
          <a:noFill/>
          <a:ln w="0">
            <a:noFill/>
          </a:ln>
        </p:spPr>
        <p:txBody>
          <a:bodyPr/>
          <a:lstStyle>
            <a:defPPr>
              <a:defRPr sz="2100" b="0">
                <a:solidFill>
                  <a:srgbClr val="172C40"/>
                </a:solidFill>
                <a:latin typeface="Arial"/>
                <a:ea typeface="Arial"/>
                <a:cs typeface="Arial"/>
              </a:defRPr>
            </a:defPPr>
          </a:lstStyle>
          <a:p>
            <a:pPr>
              <a:defRPr sz="2100" b="0">
                <a:solidFill>
                  <a:srgbClr val="172C40"/>
                </a:solidFill>
                <a:latin typeface="Arial"/>
                <a:ea typeface="Arial"/>
                <a:cs typeface="Arial"/>
              </a:defRPr>
            </a:pPr>
            <a:r>
              <a:rPr sz="2100" b="0">
                <a:solidFill>
                  <a:srgbClr val="172C40"/>
                </a:solidFill>
                <a:latin typeface="Arial"/>
                <a:ea typeface="Arial"/>
                <a:cs typeface="Arial"/>
              </a:rPr>
              <a:t>Test a pause or lower-frequency approach for eligible customers.</a:t>
            </a:r>
          </a:p>
        </p:txBody>
      </p:sp>
      <p:sp>
        <p:nvSpPr>
          <p:cNvPr id="10" name="Rectangle 9">
            <a:extLst>
              <a:ext uri="{FF2B5EF4-FFF2-40B4-BE49-F238E27FC236}">
                <a16:creationId xmlns:a16="http://schemas.microsoft.com/office/drawing/2014/main" id="{BBF394D1-28A1-42F2-AC36-ACE5B68D17DF}"/>
              </a:ext>
            </a:extLst>
          </p:cNvPr>
          <p:cNvSpPr>
            <a:spLocks noGrp="1"/>
          </p:cNvSpPr>
          <p:nvPr/>
        </p:nvSpPr>
        <p:spPr>
          <a:xfrm>
            <a:off x="571500" y="4019550"/>
            <a:ext cx="3905250" cy="381000"/>
          </a:xfrm>
          <a:prstGeom prst="rect">
            <a:avLst/>
          </a:prstGeom>
          <a:noFill/>
          <a:ln w="0">
            <a:noFill/>
          </a:ln>
        </p:spPr>
        <p:txBody>
          <a:bodyPr/>
          <a:lstStyle>
            <a:defPPr>
              <a:defRPr sz="2175" b="1">
                <a:solidFill>
                  <a:srgbClr val="087F8C"/>
                </a:solidFill>
                <a:latin typeface="Arial"/>
                <a:ea typeface="Arial"/>
                <a:cs typeface="Arial"/>
              </a:defRPr>
            </a:defPPr>
          </a:lstStyle>
          <a:p>
            <a:pPr>
              <a:defRPr sz="2175" b="1">
                <a:solidFill>
                  <a:srgbClr val="087F8C"/>
                </a:solidFill>
                <a:latin typeface="Arial"/>
                <a:ea typeface="Arial"/>
                <a:cs typeface="Arial"/>
              </a:defRPr>
            </a:pPr>
            <a:r>
              <a:rPr sz="2175" b="1">
                <a:solidFill>
                  <a:srgbClr val="087F8C"/>
                </a:solidFill>
                <a:latin typeface="Arial"/>
                <a:ea typeface="Arial"/>
                <a:cs typeface="Arial"/>
              </a:rPr>
              <a:t>Channel recording</a:t>
            </a:r>
          </a:p>
        </p:txBody>
      </p:sp>
      <p:sp>
        <p:nvSpPr>
          <p:cNvPr id="11" name="Rectangle 10">
            <a:extLst>
              <a:ext uri="{FF2B5EF4-FFF2-40B4-BE49-F238E27FC236}">
                <a16:creationId xmlns:a16="http://schemas.microsoft.com/office/drawing/2014/main" id="{5967D0A7-BE72-4286-9C45-B15EC6E84F65}"/>
              </a:ext>
            </a:extLst>
          </p:cNvPr>
          <p:cNvSpPr>
            <a:spLocks noGrp="1"/>
          </p:cNvSpPr>
          <p:nvPr/>
        </p:nvSpPr>
        <p:spPr>
          <a:xfrm>
            <a:off x="571500" y="4476750"/>
            <a:ext cx="3905250" cy="495300"/>
          </a:xfrm>
          <a:prstGeom prst="rect">
            <a:avLst/>
          </a:prstGeom>
          <a:noFill/>
          <a:ln w="0">
            <a:noFill/>
          </a:ln>
        </p:spPr>
        <p:txBody>
          <a:bodyPr/>
          <a:lstStyle>
            <a:defPPr>
              <a:defRPr sz="1575" b="0">
                <a:solidFill>
                  <a:srgbClr val="516474"/>
                </a:solidFill>
                <a:latin typeface="Arial"/>
                <a:ea typeface="Arial"/>
                <a:cs typeface="Arial"/>
              </a:defRPr>
            </a:defPPr>
          </a:lstStyle>
          <a:p>
            <a:pPr>
              <a:defRPr sz="1575" b="0">
                <a:solidFill>
                  <a:srgbClr val="516474"/>
                </a:solidFill>
                <a:latin typeface="Arial"/>
                <a:ea typeface="Arial"/>
                <a:cs typeface="Arial"/>
              </a:defRPr>
            </a:pPr>
            <a:r>
              <a:rPr sz="1575" b="0">
                <a:solidFill>
                  <a:srgbClr val="516474"/>
                </a:solidFill>
                <a:latin typeface="Arial"/>
                <a:ea typeface="Arial"/>
                <a:cs typeface="Arial"/>
              </a:rPr>
              <a:t>Proposed owner: CRM data-quality lead</a:t>
            </a:r>
          </a:p>
        </p:txBody>
      </p:sp>
      <p:sp>
        <p:nvSpPr>
          <p:cNvPr id="12" name="Rectangle 11">
            <a:extLst>
              <a:ext uri="{FF2B5EF4-FFF2-40B4-BE49-F238E27FC236}">
                <a16:creationId xmlns:a16="http://schemas.microsoft.com/office/drawing/2014/main" id="{88E85A5C-BE7E-45F9-A288-BD144AE76530}"/>
              </a:ext>
            </a:extLst>
          </p:cNvPr>
          <p:cNvSpPr>
            <a:spLocks noGrp="1"/>
          </p:cNvSpPr>
          <p:nvPr/>
        </p:nvSpPr>
        <p:spPr>
          <a:xfrm>
            <a:off x="4953000" y="4057650"/>
            <a:ext cx="6667500" cy="847725"/>
          </a:xfrm>
          <a:prstGeom prst="rect">
            <a:avLst/>
          </a:prstGeom>
          <a:noFill/>
          <a:ln w="0">
            <a:noFill/>
          </a:ln>
        </p:spPr>
        <p:txBody>
          <a:bodyPr/>
          <a:lstStyle>
            <a:defPPr>
              <a:defRPr sz="2100" b="0">
                <a:solidFill>
                  <a:srgbClr val="172C40"/>
                </a:solidFill>
                <a:latin typeface="Arial"/>
                <a:ea typeface="Arial"/>
                <a:cs typeface="Arial"/>
              </a:defRPr>
            </a:defPPr>
          </a:lstStyle>
          <a:p>
            <a:pPr>
              <a:defRPr sz="2100" b="0">
                <a:solidFill>
                  <a:srgbClr val="172C40"/>
                </a:solidFill>
                <a:latin typeface="Arial"/>
                <a:ea typeface="Arial"/>
                <a:cs typeface="Arial"/>
              </a:defRPr>
            </a:pPr>
            <a:r>
              <a:rPr sz="2100" b="0">
                <a:solidFill>
                  <a:srgbClr val="172C40"/>
                </a:solidFill>
                <a:latin typeface="Arial"/>
                <a:ea typeface="Arial"/>
                <a:cs typeface="Arial"/>
              </a:rPr>
              <a:t>Audit unknown records and pilot improved channel capture.</a:t>
            </a:r>
          </a:p>
        </p:txBody>
      </p:sp>
      <p:sp>
        <p:nvSpPr>
          <p:cNvPr id="13" name="Rectangle 12">
            <a:extLst>
              <a:ext uri="{FF2B5EF4-FFF2-40B4-BE49-F238E27FC236}">
                <a16:creationId xmlns:a16="http://schemas.microsoft.com/office/drawing/2014/main" id="{F1268490-3BF0-435D-AFF2-F01BCCF792E0}"/>
              </a:ext>
            </a:extLst>
          </p:cNvPr>
          <p:cNvSpPr>
            <a:spLocks noGrp="1"/>
          </p:cNvSpPr>
          <p:nvPr/>
        </p:nvSpPr>
        <p:spPr>
          <a:xfrm>
            <a:off x="571500" y="5486400"/>
            <a:ext cx="10953750" cy="762000"/>
          </a:xfrm>
          <a:prstGeom prst="rect">
            <a:avLst/>
          </a:prstGeom>
          <a:noFill/>
          <a:ln w="0">
            <a:noFill/>
          </a:ln>
        </p:spPr>
        <p:txBody>
          <a:bodyPr/>
          <a:lstStyle>
            <a:defPPr>
              <a:defRPr sz="1725" b="0">
                <a:solidFill>
                  <a:srgbClr val="172C40"/>
                </a:solidFill>
                <a:latin typeface="Arial"/>
                <a:ea typeface="Arial"/>
                <a:cs typeface="Arial"/>
              </a:defRPr>
            </a:defPPr>
          </a:lstStyle>
          <a:p>
            <a:pPr>
              <a:defRPr sz="1725" b="0">
                <a:solidFill>
                  <a:srgbClr val="172C40"/>
                </a:solidFill>
                <a:latin typeface="Arial"/>
                <a:ea typeface="Arial"/>
                <a:cs typeface="Arial"/>
              </a:defRPr>
            </a:pPr>
            <a:r>
              <a:rPr sz="1725" b="0">
                <a:solidFill>
                  <a:srgbClr val="172C40"/>
                </a:solidFill>
                <a:latin typeface="Arial"/>
                <a:ea typeface="Arial"/>
                <a:cs typeface="Arial"/>
              </a:rPr>
              <a:t>Channel evidence: 29.29% unknown. Telephone and cellular convert at 14.62% and 14.36% overall, but their ranking differs by housing-loan status.</a:t>
            </a:r>
          </a:p>
        </p:txBody>
      </p:sp>
    </p:spTree>
    <p:extLst>
      <p:ext uri="{BB962C8B-B14F-4D97-AF65-F5344CB8AC3E}">
        <p14:creationId xmlns:p14="http://schemas.microsoft.com/office/powerpoint/2010/main" val="1841977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BF42BFE-E1C0-4870-B474-379DA254B9B3}"/>
              </a:ext>
            </a:extLst>
          </p:cNvPr>
          <p:cNvSpPr>
            <a:spLocks noGrp="1"/>
          </p:cNvSpPr>
          <p:nvPr/>
        </p:nvSpPr>
        <p:spPr>
          <a:xfrm>
            <a:off x="571500" y="400050"/>
            <a:ext cx="11049000" cy="762000"/>
          </a:xfrm>
          <a:prstGeom prst="rect">
            <a:avLst/>
          </a:prstGeom>
          <a:noFill/>
          <a:ln w="0">
            <a:noFill/>
          </a:ln>
        </p:spPr>
        <p:txBody>
          <a:bodyPr/>
          <a:lstStyle>
            <a:defPPr>
              <a:defRPr sz="3150" b="1">
                <a:solidFill>
                  <a:srgbClr val="172C40"/>
                </a:solidFill>
                <a:latin typeface="Arial"/>
                <a:ea typeface="Arial"/>
                <a:cs typeface="Arial"/>
              </a:defRPr>
            </a:defPPr>
          </a:lstStyle>
          <a:p>
            <a:pPr>
              <a:defRPr sz="3150" b="1">
                <a:solidFill>
                  <a:srgbClr val="172C40"/>
                </a:solidFill>
                <a:latin typeface="Arial"/>
                <a:ea typeface="Arial"/>
                <a:cs typeface="Arial"/>
              </a:defRPr>
            </a:pPr>
            <a:r>
              <a:rPr sz="3150" b="1">
                <a:solidFill>
                  <a:srgbClr val="172C40"/>
                </a:solidFill>
                <a:latin typeface="Arial"/>
                <a:ea typeface="Arial"/>
                <a:cs typeface="Arial"/>
              </a:rPr>
              <a:t>Limits and the next pilot</a:t>
            </a:r>
          </a:p>
        </p:txBody>
      </p:sp>
      <p:sp>
        <p:nvSpPr>
          <p:cNvPr id="2" name="Rectangle 1">
            <a:extLst>
              <a:ext uri="{FF2B5EF4-FFF2-40B4-BE49-F238E27FC236}">
                <a16:creationId xmlns:a16="http://schemas.microsoft.com/office/drawing/2014/main" id="{887BD901-FDED-4AC7-BA5E-319500B544FE}"/>
              </a:ext>
            </a:extLst>
          </p:cNvPr>
          <p:cNvSpPr>
            <a:spLocks noGrp="1"/>
          </p:cNvSpPr>
          <p:nvPr/>
        </p:nvSpPr>
        <p:spPr>
          <a:xfrm>
            <a:off x="571500" y="6496050"/>
            <a:ext cx="5715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lang="en-GB" sz="1125" dirty="0">
                <a:solidFill>
                  <a:srgbClr val="516474"/>
                </a:solidFill>
                <a:latin typeface="Arial"/>
                <a:ea typeface="Arial"/>
                <a:cs typeface="Arial"/>
              </a:rPr>
              <a:t>Bank marketing analysis _ Presented by: Usman Akbar</a:t>
            </a:r>
          </a:p>
        </p:txBody>
      </p:sp>
      <p:sp>
        <p:nvSpPr>
          <p:cNvPr id="3" name="Rectangle 2">
            <a:extLst>
              <a:ext uri="{FF2B5EF4-FFF2-40B4-BE49-F238E27FC236}">
                <a16:creationId xmlns:a16="http://schemas.microsoft.com/office/drawing/2014/main" id="{D1947CE8-927D-4577-81EB-8031807CE2BE}"/>
              </a:ext>
            </a:extLst>
          </p:cNvPr>
          <p:cNvSpPr>
            <a:spLocks noGrp="1"/>
          </p:cNvSpPr>
          <p:nvPr/>
        </p:nvSpPr>
        <p:spPr>
          <a:xfrm>
            <a:off x="11287125" y="6496050"/>
            <a:ext cx="381000" cy="209550"/>
          </a:xfrm>
          <a:prstGeom prst="rect">
            <a:avLst/>
          </a:prstGeom>
          <a:noFill/>
          <a:ln w="0">
            <a:noFill/>
          </a:ln>
        </p:spPr>
        <p:txBody>
          <a:bodyPr/>
          <a:lstStyle>
            <a:defPPr>
              <a:defRPr sz="1125" b="0">
                <a:solidFill>
                  <a:srgbClr val="516474"/>
                </a:solidFill>
                <a:latin typeface="Arial"/>
                <a:ea typeface="Arial"/>
                <a:cs typeface="Arial"/>
              </a:defRPr>
            </a:defPPr>
          </a:lstStyle>
          <a:p>
            <a:pPr>
              <a:defRPr sz="1125" b="0">
                <a:solidFill>
                  <a:srgbClr val="516474"/>
                </a:solidFill>
                <a:latin typeface="Arial"/>
                <a:ea typeface="Arial"/>
                <a:cs typeface="Arial"/>
              </a:defRPr>
            </a:pPr>
            <a:r>
              <a:rPr sz="1125" b="0">
                <a:solidFill>
                  <a:srgbClr val="516474"/>
                </a:solidFill>
                <a:latin typeface="Arial"/>
                <a:ea typeface="Arial"/>
                <a:cs typeface="Arial"/>
              </a:rPr>
              <a:t>5</a:t>
            </a:r>
          </a:p>
        </p:txBody>
      </p:sp>
      <p:sp>
        <p:nvSpPr>
          <p:cNvPr id="4" name="Rectangle 3">
            <a:extLst>
              <a:ext uri="{FF2B5EF4-FFF2-40B4-BE49-F238E27FC236}">
                <a16:creationId xmlns:a16="http://schemas.microsoft.com/office/drawing/2014/main" id="{4F797B95-730F-44D3-AD94-4E4E0FA57D06}"/>
              </a:ext>
            </a:extLst>
          </p:cNvPr>
          <p:cNvSpPr>
            <a:spLocks noGrp="1"/>
          </p:cNvSpPr>
          <p:nvPr/>
        </p:nvSpPr>
        <p:spPr>
          <a:xfrm>
            <a:off x="571500" y="1409700"/>
            <a:ext cx="5286375" cy="714375"/>
          </a:xfrm>
          <a:prstGeom prst="rect">
            <a:avLst/>
          </a:prstGeom>
          <a:noFill/>
          <a:ln w="0">
            <a:noFill/>
          </a:ln>
        </p:spPr>
        <p:txBody>
          <a:bodyPr/>
          <a:lstStyle>
            <a:defPPr>
              <a:defRPr sz="2175" b="1">
                <a:solidFill>
                  <a:srgbClr val="087F8C"/>
                </a:solidFill>
                <a:latin typeface="Arial"/>
                <a:ea typeface="Arial"/>
                <a:cs typeface="Arial"/>
              </a:defRPr>
            </a:defPPr>
          </a:lstStyle>
          <a:p>
            <a:pPr>
              <a:defRPr sz="2175" b="1">
                <a:solidFill>
                  <a:srgbClr val="087F8C"/>
                </a:solidFill>
                <a:latin typeface="Arial"/>
                <a:ea typeface="Arial"/>
                <a:cs typeface="Arial"/>
              </a:defRPr>
            </a:pPr>
            <a:r>
              <a:rPr sz="2175" b="1">
                <a:solidFill>
                  <a:srgbClr val="087F8C"/>
                </a:solidFill>
                <a:latin typeface="Arial"/>
                <a:ea typeface="Arial"/>
                <a:cs typeface="Arial"/>
              </a:rPr>
              <a:t>What the evidence cannot establish</a:t>
            </a:r>
          </a:p>
        </p:txBody>
      </p:sp>
      <p:sp>
        <p:nvSpPr>
          <p:cNvPr id="5" name="Rectangle 4">
            <a:extLst>
              <a:ext uri="{FF2B5EF4-FFF2-40B4-BE49-F238E27FC236}">
                <a16:creationId xmlns:a16="http://schemas.microsoft.com/office/drawing/2014/main" id="{9DE1241E-461C-4A7C-917A-330E70103862}"/>
              </a:ext>
            </a:extLst>
          </p:cNvPr>
          <p:cNvSpPr>
            <a:spLocks noGrp="1"/>
          </p:cNvSpPr>
          <p:nvPr/>
        </p:nvSpPr>
        <p:spPr>
          <a:xfrm>
            <a:off x="571500" y="2286000"/>
            <a:ext cx="5143500" cy="2857500"/>
          </a:xfrm>
          <a:prstGeom prst="rect">
            <a:avLst/>
          </a:prstGeom>
          <a:noFill/>
          <a:ln w="0">
            <a:noFill/>
          </a:ln>
        </p:spPr>
        <p:txBody>
          <a:bodyPr/>
          <a:lstStyle>
            <a:defPPr>
              <a:defRPr sz="1950" b="0">
                <a:solidFill>
                  <a:srgbClr val="172C40"/>
                </a:solidFill>
                <a:latin typeface="Arial"/>
                <a:ea typeface="Arial"/>
                <a:cs typeface="Arial"/>
              </a:defRPr>
            </a:defPPr>
          </a:lstStyle>
          <a:p>
            <a:pPr>
              <a:defRPr sz="1950" b="0">
                <a:solidFill>
                  <a:srgbClr val="172C40"/>
                </a:solidFill>
                <a:latin typeface="Arial"/>
                <a:ea typeface="Arial"/>
                <a:cs typeface="Arial"/>
              </a:defRPr>
            </a:pPr>
            <a:r>
              <a:rPr sz="1950" b="0">
                <a:solidFill>
                  <a:srgbClr val="172C40"/>
                </a:solidFill>
                <a:latin typeface="Arial"/>
                <a:ea typeface="Arial"/>
                <a:cs typeface="Arial"/>
              </a:rPr>
              <a:t>Historical associations do not prove causation.</a:t>
            </a:r>
          </a:p>
          <a:p>
            <a:endParaRPr sz="1950" b="0">
              <a:solidFill>
                <a:srgbClr val="172C40"/>
              </a:solidFill>
              <a:latin typeface="Arial"/>
              <a:ea typeface="Arial"/>
              <a:cs typeface="Arial"/>
            </a:endParaRPr>
          </a:p>
          <a:p>
            <a:pPr>
              <a:defRPr sz="1950" b="0">
                <a:solidFill>
                  <a:srgbClr val="172C40"/>
                </a:solidFill>
                <a:latin typeface="Arial"/>
                <a:ea typeface="Arial"/>
                <a:cs typeface="Arial"/>
              </a:defRPr>
            </a:pPr>
            <a:r>
              <a:rPr sz="1950" b="0">
                <a:solidFill>
                  <a:srgbClr val="172C40"/>
                </a:solidFill>
                <a:latin typeface="Arial"/>
                <a:ea typeface="Arial"/>
                <a:cs typeface="Arial"/>
              </a:rPr>
              <a:t>Small groups and pooled months limit interpretation.</a:t>
            </a:r>
          </a:p>
          <a:p>
            <a:endParaRPr sz="1950" b="0">
              <a:solidFill>
                <a:srgbClr val="172C40"/>
              </a:solidFill>
              <a:latin typeface="Arial"/>
              <a:ea typeface="Arial"/>
              <a:cs typeface="Arial"/>
            </a:endParaRPr>
          </a:p>
          <a:p>
            <a:pPr>
              <a:defRPr sz="1950" b="0">
                <a:solidFill>
                  <a:srgbClr val="172C40"/>
                </a:solidFill>
                <a:latin typeface="Arial"/>
                <a:ea typeface="Arial"/>
                <a:cs typeface="Arial"/>
              </a:defRPr>
            </a:pPr>
            <a:r>
              <a:rPr sz="1950" b="0">
                <a:solidFill>
                  <a:srgbClr val="172C40"/>
                </a:solidFill>
                <a:latin typeface="Arial"/>
                <a:ea typeface="Arial"/>
                <a:cs typeface="Arial"/>
              </a:rPr>
              <a:t>Costs, deposit values, margin and retention are missing.</a:t>
            </a:r>
          </a:p>
        </p:txBody>
      </p:sp>
      <p:sp>
        <p:nvSpPr>
          <p:cNvPr id="6" name="Rectangle 5">
            <a:extLst>
              <a:ext uri="{FF2B5EF4-FFF2-40B4-BE49-F238E27FC236}">
                <a16:creationId xmlns:a16="http://schemas.microsoft.com/office/drawing/2014/main" id="{1DD07C98-B99A-48C6-80D5-7BA90A26ECA6}"/>
              </a:ext>
            </a:extLst>
          </p:cNvPr>
          <p:cNvSpPr>
            <a:spLocks noGrp="1"/>
          </p:cNvSpPr>
          <p:nvPr/>
        </p:nvSpPr>
        <p:spPr>
          <a:xfrm>
            <a:off x="6572250" y="1409700"/>
            <a:ext cx="5143500" cy="714375"/>
          </a:xfrm>
          <a:prstGeom prst="rect">
            <a:avLst/>
          </a:prstGeom>
          <a:noFill/>
          <a:ln w="0">
            <a:noFill/>
          </a:ln>
        </p:spPr>
        <p:txBody>
          <a:bodyPr/>
          <a:lstStyle>
            <a:defPPr>
              <a:defRPr sz="2175" b="1">
                <a:solidFill>
                  <a:srgbClr val="087F8C"/>
                </a:solidFill>
                <a:latin typeface="Arial"/>
                <a:ea typeface="Arial"/>
                <a:cs typeface="Arial"/>
              </a:defRPr>
            </a:defPPr>
          </a:lstStyle>
          <a:p>
            <a:pPr>
              <a:defRPr sz="2175" b="1">
                <a:solidFill>
                  <a:srgbClr val="087F8C"/>
                </a:solidFill>
                <a:latin typeface="Arial"/>
                <a:ea typeface="Arial"/>
                <a:cs typeface="Arial"/>
              </a:defRPr>
            </a:pPr>
            <a:r>
              <a:rPr sz="2175" b="1">
                <a:solidFill>
                  <a:srgbClr val="087F8C"/>
                </a:solidFill>
                <a:latin typeface="Arial"/>
                <a:ea typeface="Arial"/>
                <a:cs typeface="Arial"/>
              </a:rPr>
              <a:t>Proposed controlled pilot</a:t>
            </a:r>
          </a:p>
        </p:txBody>
      </p:sp>
      <p:sp>
        <p:nvSpPr>
          <p:cNvPr id="7" name="Rectangle 6">
            <a:extLst>
              <a:ext uri="{FF2B5EF4-FFF2-40B4-BE49-F238E27FC236}">
                <a16:creationId xmlns:a16="http://schemas.microsoft.com/office/drawing/2014/main" id="{1346CA49-DA7C-46F5-9266-465C312E0F42}"/>
              </a:ext>
            </a:extLst>
          </p:cNvPr>
          <p:cNvSpPr>
            <a:spLocks noGrp="1"/>
          </p:cNvSpPr>
          <p:nvPr/>
        </p:nvSpPr>
        <p:spPr>
          <a:xfrm>
            <a:off x="6572250" y="2286000"/>
            <a:ext cx="5000625" cy="3000375"/>
          </a:xfrm>
          <a:prstGeom prst="rect">
            <a:avLst/>
          </a:prstGeom>
          <a:noFill/>
          <a:ln w="0">
            <a:noFill/>
          </a:ln>
        </p:spPr>
        <p:txBody>
          <a:bodyPr/>
          <a:lstStyle>
            <a:defPPr>
              <a:defRPr sz="1950" b="0">
                <a:solidFill>
                  <a:srgbClr val="172C40"/>
                </a:solidFill>
                <a:latin typeface="Arial"/>
                <a:ea typeface="Arial"/>
                <a:cs typeface="Arial"/>
              </a:defRPr>
            </a:defPPr>
          </a:lstStyle>
          <a:p>
            <a:pPr>
              <a:defRPr sz="1950" b="0">
                <a:solidFill>
                  <a:srgbClr val="172C40"/>
                </a:solidFill>
                <a:latin typeface="Arial"/>
                <a:ea typeface="Arial"/>
                <a:cs typeface="Arial"/>
              </a:defRPr>
            </a:pPr>
            <a:r>
              <a:rPr sz="1950" b="0">
                <a:solidFill>
                  <a:srgbClr val="172C40"/>
                </a:solidFill>
                <a:latin typeface="Arial"/>
                <a:ea typeface="Arial"/>
                <a:cs typeface="Arial"/>
              </a:rPr>
              <a:t>Eligible customers remain unsubscribed after three attempts.</a:t>
            </a:r>
          </a:p>
          <a:p>
            <a:endParaRPr sz="1950" b="0">
              <a:solidFill>
                <a:srgbClr val="172C40"/>
              </a:solidFill>
              <a:latin typeface="Arial"/>
              <a:ea typeface="Arial"/>
              <a:cs typeface="Arial"/>
            </a:endParaRPr>
          </a:p>
          <a:p>
            <a:pPr>
              <a:defRPr sz="1950" b="0">
                <a:solidFill>
                  <a:srgbClr val="172C40"/>
                </a:solidFill>
                <a:latin typeface="Arial"/>
                <a:ea typeface="Arial"/>
                <a:cs typeface="Arial"/>
              </a:defRPr>
            </a:pPr>
            <a:r>
              <a:rPr sz="1950" b="0">
                <a:solidFill>
                  <a:srgbClr val="172C40"/>
                </a:solidFill>
                <a:latin typeface="Arial"/>
                <a:ea typeface="Arial"/>
                <a:cs typeface="Arial"/>
              </a:rPr>
              <a:t>Randomly assign current or revised follow-up.</a:t>
            </a:r>
          </a:p>
          <a:p>
            <a:endParaRPr sz="1950" b="0">
              <a:solidFill>
                <a:srgbClr val="172C40"/>
              </a:solidFill>
              <a:latin typeface="Arial"/>
              <a:ea typeface="Arial"/>
              <a:cs typeface="Arial"/>
            </a:endParaRPr>
          </a:p>
          <a:p>
            <a:pPr>
              <a:defRPr sz="1950" b="0">
                <a:solidFill>
                  <a:srgbClr val="172C40"/>
                </a:solidFill>
                <a:latin typeface="Arial"/>
                <a:ea typeface="Arial"/>
                <a:cs typeface="Arial"/>
              </a:defRPr>
            </a:pPr>
            <a:r>
              <a:rPr sz="1950" b="0">
                <a:solidFill>
                  <a:srgbClr val="172C40"/>
                </a:solidFill>
                <a:latin typeface="Arial"/>
                <a:ea typeface="Arial"/>
                <a:cs typeface="Arial"/>
              </a:rPr>
              <a:t>Compare conversion, additional contacts and complaints over 30 days.</a:t>
            </a:r>
          </a:p>
        </p:txBody>
      </p:sp>
      <p:sp>
        <p:nvSpPr>
          <p:cNvPr id="8" name="Rectangle 7">
            <a:extLst>
              <a:ext uri="{FF2B5EF4-FFF2-40B4-BE49-F238E27FC236}">
                <a16:creationId xmlns:a16="http://schemas.microsoft.com/office/drawing/2014/main" id="{680B3D66-B414-4AE6-8D97-543E31A729A4}"/>
              </a:ext>
            </a:extLst>
          </p:cNvPr>
          <p:cNvSpPr>
            <a:spLocks noGrp="1"/>
          </p:cNvSpPr>
          <p:nvPr/>
        </p:nvSpPr>
        <p:spPr>
          <a:xfrm>
            <a:off x="571500" y="5695950"/>
            <a:ext cx="11049000" cy="533400"/>
          </a:xfrm>
          <a:prstGeom prst="rect">
            <a:avLst/>
          </a:prstGeom>
          <a:noFill/>
          <a:ln w="0">
            <a:noFill/>
          </a:ln>
        </p:spPr>
        <p:txBody>
          <a:bodyPr/>
          <a:lstStyle>
            <a:defPPr>
              <a:defRPr sz="2025" b="1">
                <a:solidFill>
                  <a:srgbClr val="172C40"/>
                </a:solidFill>
                <a:latin typeface="Arial"/>
                <a:ea typeface="Arial"/>
                <a:cs typeface="Arial"/>
              </a:defRPr>
            </a:defPPr>
          </a:lstStyle>
          <a:p>
            <a:pPr>
              <a:defRPr sz="2025" b="1">
                <a:solidFill>
                  <a:srgbClr val="172C40"/>
                </a:solidFill>
                <a:latin typeface="Arial"/>
                <a:ea typeface="Arial"/>
                <a:cs typeface="Arial"/>
              </a:defRPr>
            </a:pPr>
            <a:r>
              <a:rPr sz="2025" b="1">
                <a:solidFill>
                  <a:srgbClr val="172C40"/>
                </a:solidFill>
                <a:latin typeface="Arial"/>
                <a:ea typeface="Arial"/>
                <a:cs typeface="Arial"/>
              </a:rPr>
              <a:t>A power calculation and agreed decision thresholds come before sample size.</a:t>
            </a:r>
          </a:p>
        </p:txBody>
      </p:sp>
    </p:spTree>
    <p:extLst>
      <p:ext uri="{BB962C8B-B14F-4D97-AF65-F5344CB8AC3E}">
        <p14:creationId xmlns:p14="http://schemas.microsoft.com/office/powerpoint/2010/main" val="44338128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957</Words>
  <Application>Microsoft Macintosh PowerPoint</Application>
  <DocSecurity>0</DocSecurity>
  <PresentationFormat>Widescreen</PresentationFormat>
  <Paragraphs>97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Arial</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Usman Akbar</cp:lastModifiedBy>
  <cp:revision>1</cp:revision>
  <dcterms:created xsi:type="dcterms:W3CDTF">2026-10-11T11:15:14Z</dcterms:created>
  <dcterms:modified xsi:type="dcterms:W3CDTF">2026-10-11T11:18:05Z</dcterms:modified>
</cp:coreProperties>
</file>